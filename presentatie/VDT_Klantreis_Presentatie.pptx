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73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0949" autoAdjust="0"/>
  </p:normalViewPr>
  <p:slideViewPr>
    <p:cSldViewPr snapToGrid="0" snapToObjects="1">
      <p:cViewPr>
        <p:scale>
          <a:sx n="84" d="100"/>
          <a:sy n="84" d="100"/>
        </p:scale>
        <p:origin x="566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5120640"/>
            <a:ext cx="2011680" cy="2011680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C200"/>
                </a:solidFill>
                <a:latin typeface="Inter"/>
              </a:rPr>
              <a:t>VDT ADVOCATEN  ·  KLANTTEAM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841248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5200" b="1" dirty="0">
                <a:solidFill>
                  <a:srgbClr val="FFFFFF"/>
                </a:solidFill>
                <a:latin typeface="Inter"/>
              </a:rPr>
              <a:t>De VDT </a:t>
            </a:r>
            <a:r>
              <a:rPr sz="5200" b="1" dirty="0" err="1">
                <a:solidFill>
                  <a:srgbClr val="FFFFFF"/>
                </a:solidFill>
                <a:latin typeface="Inter"/>
              </a:rPr>
              <a:t>Klantreis</a:t>
            </a:r>
            <a:endParaRPr sz="5200" b="1" dirty="0">
              <a:solidFill>
                <a:srgbClr val="FFFFFF"/>
              </a:solidFill>
              <a:latin typeface="Inter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3400" b="1" dirty="0">
                <a:solidFill>
                  <a:srgbClr val="CFE6E6"/>
                </a:solidFill>
                <a:latin typeface="Inter"/>
              </a:rPr>
              <a:t>Van dossier </a:t>
            </a:r>
            <a:r>
              <a:rPr sz="3400" b="1" dirty="0" err="1">
                <a:solidFill>
                  <a:srgbClr val="CFE6E6"/>
                </a:solidFill>
                <a:latin typeface="Inter"/>
              </a:rPr>
              <a:t>naar</a:t>
            </a:r>
            <a:r>
              <a:rPr sz="3400" b="1" dirty="0">
                <a:solidFill>
                  <a:srgbClr val="CFE6E6"/>
                </a:solidFill>
                <a:latin typeface="Inter"/>
              </a:rPr>
              <a:t> </a:t>
            </a:r>
            <a:r>
              <a:rPr lang="nl-NL" sz="3400" b="1" dirty="0" err="1">
                <a:solidFill>
                  <a:srgbClr val="2FA766"/>
                </a:solidFill>
                <a:latin typeface="Inter"/>
              </a:rPr>
              <a:t>onderneemmee</a:t>
            </a:r>
            <a:endParaRPr sz="3400" b="1" dirty="0">
              <a:solidFill>
                <a:srgbClr val="2FA766"/>
              </a:solidFill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120" y="4160520"/>
            <a:ext cx="2011680" cy="54864"/>
          </a:xfrm>
          <a:prstGeom prst="rect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D7E4E4"/>
                </a:solidFill>
                <a:latin typeface="Inter"/>
              </a:rPr>
              <a:t>Wij bouwen geen verzameling losse contactmomenten,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D7E4E4"/>
                </a:solidFill>
                <a:latin typeface="Inter"/>
              </a:rPr>
              <a:t>maar een structureel systeem dat ondernemers beter leert kennen.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9FC4C4"/>
                </a:solidFill>
                <a:latin typeface="Inter"/>
              </a:rPr>
              <a:t>Voor: klantteam · directie · betrokken advocaten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WAARVOOR WE HIER ZITTEN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Het doel van deze presentatie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 dirty="0">
                <a:solidFill>
                  <a:srgbClr val="1F2937"/>
                </a:solidFill>
                <a:latin typeface="Inter"/>
              </a:rPr>
              <a:t>In de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komende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minuten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neen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lang="nl-NL" sz="1500" dirty="0">
                <a:solidFill>
                  <a:srgbClr val="1F2937"/>
                </a:solidFill>
                <a:latin typeface="Inter"/>
              </a:rPr>
              <a:t>ik 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je mee in de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nieuwe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klantreis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: de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gedachte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erachter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, de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rolverdeling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, de workflow in BaseNet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en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wat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dit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betekent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voor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onze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Inter"/>
              </a:rPr>
              <a:t>klanten</a:t>
            </a:r>
            <a:r>
              <a:rPr sz="1500" b="0" dirty="0">
                <a:solidFill>
                  <a:srgbClr val="1F2937"/>
                </a:solidFill>
                <a:latin typeface="Inter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26151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615184" cy="109728"/>
          </a:xfrm>
          <a:prstGeom prst="roundRect">
            <a:avLst>
              <a:gd name="adj" fmla="val 5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3794760"/>
            <a:ext cx="603504" cy="603504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794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498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>
                <a:solidFill>
                  <a:srgbClr val="142A33"/>
                </a:solidFill>
                <a:latin typeface="Inter"/>
              </a:rPr>
              <a:t>De kernboodschap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8646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525C6B"/>
                </a:solidFill>
                <a:latin typeface="Inter"/>
              </a:rPr>
              <a:t>Waar we voor staan en waar we naartoe bouwen.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9856" y="3383280"/>
            <a:ext cx="26151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19856" y="3383280"/>
            <a:ext cx="2615184" cy="109728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66744" y="3794760"/>
            <a:ext cx="603504" cy="603504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66744" y="3794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4498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>
                <a:solidFill>
                  <a:srgbClr val="142A33"/>
                </a:solidFill>
                <a:latin typeface="Inter"/>
              </a:rPr>
              <a:t>Zo werkt het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8646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525C6B"/>
                </a:solidFill>
                <a:latin typeface="Inter"/>
              </a:rPr>
              <a:t>Eén ingang, de rollen, de Legal MRI en BaseNet.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383280"/>
            <a:ext cx="26151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9632" y="3383280"/>
            <a:ext cx="2615184" cy="109728"/>
          </a:xfrm>
          <a:prstGeom prst="roundRect">
            <a:avLst>
              <a:gd name="adj" fmla="val 50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46520" y="3794760"/>
            <a:ext cx="603504" cy="603504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794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498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>
                <a:solidFill>
                  <a:srgbClr val="142A33"/>
                </a:solidFill>
                <a:latin typeface="Inter"/>
              </a:rPr>
              <a:t>De gedachte erachter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8646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525C6B"/>
                </a:solidFill>
                <a:latin typeface="Inter"/>
              </a:rPr>
              <a:t>Waarom we dit doen en onze vijf principes.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408" y="3383280"/>
            <a:ext cx="26151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79408" y="3383280"/>
            <a:ext cx="2615184" cy="109728"/>
          </a:xfrm>
          <a:prstGeom prst="roundRect">
            <a:avLst>
              <a:gd name="adj" fmla="val 5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26296" y="3794760"/>
            <a:ext cx="603504" cy="6035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26296" y="3794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498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>
                <a:solidFill>
                  <a:srgbClr val="142A33"/>
                </a:solidFill>
                <a:latin typeface="Inter"/>
              </a:rPr>
              <a:t>De vijf fases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8646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525C6B"/>
                </a:solidFill>
                <a:latin typeface="Inter"/>
              </a:rPr>
              <a:t>De klantreis stap voor stap.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852160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843016"/>
            <a:ext cx="10104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07F81"/>
                </a:solidFill>
                <a:latin typeface="Inter"/>
              </a:rPr>
              <a:t>Praktisch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96796" y="58521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96796" y="5843016"/>
            <a:ext cx="120243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07F81"/>
                </a:solidFill>
                <a:latin typeface="Inter"/>
              </a:rPr>
              <a:t>Ondernemend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45536" y="585216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45536" y="584301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07F81"/>
                </a:solidFill>
                <a:latin typeface="Inter"/>
              </a:rPr>
              <a:t>Klantgericht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90288" y="58521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90288" y="5843016"/>
            <a:ext cx="120243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 dirty="0">
                <a:solidFill>
                  <a:srgbClr val="007F81"/>
                </a:solidFill>
                <a:latin typeface="Inter"/>
              </a:rPr>
              <a:t>Geen jargon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39028" y="585216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9028" y="5843016"/>
            <a:ext cx="2066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07F81"/>
                </a:solidFill>
                <a:latin typeface="Inter"/>
              </a:rPr>
              <a:t>Klantwaarde centraal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280160"/>
            <a:ext cx="4572000" cy="4572000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3840480"/>
            <a:ext cx="3291840" cy="3291840"/>
          </a:xfrm>
          <a:prstGeom prst="ellipse">
            <a:avLst/>
          </a:prstGeom>
          <a:solidFill>
            <a:srgbClr val="00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C200"/>
                </a:solidFill>
                <a:latin typeface="Inter"/>
              </a:rPr>
              <a:t>DE KERNBOODSCHAP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969264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Het doel is niet meer verkopen.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Inter"/>
              </a:rPr>
              <a:t>Het doel is om VDT zó prettig, toegankelijk en waardevol te maken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Inter"/>
              </a:rPr>
              <a:t>om mee samen te werken, dat klanten </a:t>
            </a:r>
            <a:r>
              <a:rPr sz="2400" b="1">
                <a:solidFill>
                  <a:srgbClr val="F4C200"/>
                </a:solidFill>
                <a:latin typeface="Inter"/>
              </a:rPr>
              <a:t>vanzelf</a:t>
            </a:r>
            <a:r>
              <a:rPr sz="2400" b="1">
                <a:solidFill>
                  <a:srgbClr val="FFFFFF"/>
                </a:solidFill>
                <a:latin typeface="Inter"/>
              </a:rPr>
              <a:t> meer willen afnemen.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9768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4988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4C200"/>
                </a:solidFill>
                <a:latin typeface="Inter"/>
              </a:rPr>
              <a:t>NIET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6460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FFFFFF"/>
                </a:solidFill>
                <a:latin typeface="Inter"/>
              </a:rPr>
              <a:t>Een verzameling losse contactmomenten.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29768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44988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Inter"/>
              </a:rPr>
              <a:t>WÉL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86460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Inter"/>
              </a:rPr>
              <a:t>Eén structureel systeem dat ondernemers beter leert kennen, beter helpt en op het juiste moment meedenkt.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EÉN INGANG VOOR IEDEREEN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Iedere klant komt hetzelfde binnen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1F2937"/>
                </a:solidFill>
                <a:latin typeface="Inter"/>
              </a:rPr>
              <a:t>Iedereen krijgt dezelfde onboarding. Binnen twee weken bepalen we de strategische waarde.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2743200" cy="91440"/>
          </a:xfrm>
          <a:prstGeom prst="roundRect">
            <a:avLst>
              <a:gd name="adj" fmla="val 5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809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7F81"/>
                </a:solidFill>
                <a:latin typeface="Inter"/>
              </a:rPr>
              <a:t>STAP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73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142A33"/>
                </a:solidFill>
                <a:latin typeface="Inter"/>
              </a:rPr>
              <a:t>Gelijke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>
                <a:solidFill>
                  <a:srgbClr val="525C6B"/>
                </a:solidFill>
                <a:latin typeface="Inter"/>
              </a:rPr>
              <a:t>Welkomstmail + gegevens vastleggen</a:t>
            </a:r>
          </a:p>
        </p:txBody>
      </p:sp>
      <p:sp>
        <p:nvSpPr>
          <p:cNvPr id="15" name="Chevron 14"/>
          <p:cNvSpPr/>
          <p:nvPr/>
        </p:nvSpPr>
        <p:spPr>
          <a:xfrm>
            <a:off x="3456432" y="3246120"/>
            <a:ext cx="457200" cy="365760"/>
          </a:xfrm>
          <a:prstGeom prst="chevron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23360" y="2743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23360" y="2743200"/>
            <a:ext cx="2743200" cy="91440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29809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2FA766"/>
                </a:solidFill>
                <a:latin typeface="Inter"/>
              </a:rPr>
              <a:t>STAP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73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142A33"/>
                </a:solidFill>
                <a:latin typeface="Inter"/>
              </a:rPr>
              <a:t>Toets twee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69417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>
                <a:solidFill>
                  <a:srgbClr val="525C6B"/>
                </a:solidFill>
                <a:latin typeface="Inter"/>
              </a:rPr>
              <a:t>Binnen 2 weken beoordeeld</a:t>
            </a:r>
          </a:p>
        </p:txBody>
      </p:sp>
      <p:sp>
        <p:nvSpPr>
          <p:cNvPr id="21" name="Chevron 20"/>
          <p:cNvSpPr/>
          <p:nvPr/>
        </p:nvSpPr>
        <p:spPr>
          <a:xfrm>
            <a:off x="6839712" y="3246120"/>
            <a:ext cx="457200" cy="365760"/>
          </a:xfrm>
          <a:prstGeom prst="chevron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06640" y="2743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406640" y="2743200"/>
            <a:ext cx="2743200" cy="91440"/>
          </a:xfrm>
          <a:prstGeom prst="roundRect">
            <a:avLst>
              <a:gd name="adj" fmla="val 5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29809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4244"/>
                </a:solidFill>
                <a:latin typeface="Inter"/>
              </a:rPr>
              <a:t>STAP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273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142A33"/>
                </a:solidFill>
                <a:latin typeface="Inter"/>
              </a:rPr>
              <a:t>Bepaal segment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9417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>
                <a:solidFill>
                  <a:srgbClr val="525C6B"/>
                </a:solidFill>
                <a:latin typeface="Inter"/>
              </a:rPr>
              <a:t>Strategisch of regulier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51206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2FA766"/>
                </a:solidFill>
                <a:latin typeface="Inter"/>
              </a:rPr>
              <a:t>DE TWEE CRITERIA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0932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0932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Inter"/>
              </a:rPr>
              <a:t>10+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0932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Meer dan 10 medewerkers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6052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605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Inter"/>
              </a:rPr>
              <a:t>DMU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57784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DMU bekend </a:t>
            </a:r>
            <a:r>
              <a:rPr sz="1150" b="0">
                <a:solidFill>
                  <a:srgbClr val="525C6B"/>
                </a:solidFill>
                <a:latin typeface="Inter"/>
              </a:rPr>
              <a:t>(DGA / directie / beslisser)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526280"/>
            <a:ext cx="5577840" cy="1508760"/>
          </a:xfrm>
          <a:prstGeom prst="roundRect">
            <a:avLst>
              <a:gd name="adj" fmla="val 5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7274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D6F0E1"/>
                </a:solidFill>
                <a:latin typeface="Inter"/>
              </a:rPr>
              <a:t>BEIDE AANWEZIG?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029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Inter"/>
              </a:rPr>
              <a:t>→  Strategische klant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5504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FFFFFF"/>
                </a:solidFill>
                <a:latin typeface="Inter"/>
              </a:rPr>
              <a:t>Verwachting: gemiddeld circa 5 strategische klanten per maand.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WIE DOET WAT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De rolverdeling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35661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3566160" cy="27432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2037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De Secretaresse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CFE6E6"/>
                </a:solidFill>
                <a:latin typeface="Inter"/>
              </a:rPr>
              <a:t>DATA &amp; KWALITEIT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363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7F81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Data-input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7F81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Klant aanmaken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7F81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Datakwaliteit bewaken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057400"/>
            <a:ext cx="35661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70832" y="205740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2560320"/>
            <a:ext cx="3566160" cy="27432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22037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Het Klantteam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CFE6E6"/>
                </a:solidFill>
                <a:latin typeface="Inter"/>
              </a:rPr>
              <a:t>REGIE &amp; RELATIE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363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Regie over de klantreis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Uitvoering: Legal MRI, check-ins, OMG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Relatiebeheer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2057400"/>
            <a:ext cx="35661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01584" y="2057400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01584" y="2560320"/>
            <a:ext cx="3566160" cy="274320"/>
          </a:xfrm>
          <a:prstGeom prst="rect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5904" y="220370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De Advocaat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5603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CFE6E6"/>
                </a:solidFill>
                <a:latin typeface="Inter"/>
              </a:rPr>
              <a:t>INHOUD &amp; DOSSIER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1363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4244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Inhoud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4244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Dossier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4244"/>
                </a:solidFill>
                <a:latin typeface="Inter"/>
              </a:rPr>
              <a:t>●  </a:t>
            </a:r>
            <a:r>
              <a:rPr sz="1300" b="0">
                <a:solidFill>
                  <a:srgbClr val="1F2937"/>
                </a:solidFill>
                <a:latin typeface="Inter"/>
              </a:rPr>
              <a:t>Juridisch advies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6636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4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27608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De advocaat is eigenaar van de </a:t>
            </a:r>
            <a:r>
              <a:rPr sz="1700" b="1">
                <a:solidFill>
                  <a:srgbClr val="F4C200"/>
                </a:solidFill>
                <a:latin typeface="Inter"/>
              </a:rPr>
              <a:t>inhoud</a:t>
            </a:r>
            <a:r>
              <a:rPr sz="1700" b="1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4184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Het klantteam is eigenaar van de </a:t>
            </a:r>
            <a:r>
              <a:rPr sz="1700" b="1">
                <a:solidFill>
                  <a:srgbClr val="2FA766"/>
                </a:solidFill>
                <a:latin typeface="Inter"/>
              </a:rPr>
              <a:t>relatie</a:t>
            </a:r>
            <a:r>
              <a:rPr sz="1700" b="1">
                <a:solidFill>
                  <a:srgbClr val="FFFFFF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HET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De Legal MRI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212080" cy="27889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242316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Inter"/>
              </a:rPr>
              <a:t>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68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142A33"/>
                </a:solidFill>
                <a:latin typeface="Inter"/>
              </a:rPr>
              <a:t>Een juridische gezondheidsscan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Inter"/>
              </a:rPr>
              <a:t>Een soort juridische röntgenfoto van de onderneming.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Invultijd: ± 10 minuten.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Inter"/>
              </a:rPr>
              <a:t>Resultaat: analyse, rapport en aanbevelingen — besproken tijdens de kennismaking en het OMG.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57400"/>
            <a:ext cx="2651760" cy="2788920"/>
          </a:xfrm>
          <a:prstGeom prst="roundRect">
            <a:avLst>
              <a:gd name="adj" fmla="val 6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 dirty="0">
                <a:solidFill>
                  <a:srgbClr val="E74049"/>
                </a:solidFill>
                <a:latin typeface="Inter"/>
              </a:rPr>
              <a:t>GEEN</a:t>
            </a:r>
            <a:r>
              <a:rPr lang="nl-NL" sz="1300" b="1" dirty="0">
                <a:solidFill>
                  <a:srgbClr val="E74049"/>
                </a:solidFill>
                <a:latin typeface="Inter"/>
              </a:rPr>
              <a:t> (eigenlijk wel natuurlijk, maar in communicatie niet  :p) </a:t>
            </a:r>
            <a:endParaRPr sz="1300" b="1" dirty="0">
              <a:solidFill>
                <a:srgbClr val="E7404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E74049"/>
                </a:solidFill>
                <a:latin typeface="Inter"/>
              </a:rPr>
              <a:t>✕  </a:t>
            </a:r>
            <a:r>
              <a:rPr sz="1300" b="0" dirty="0" err="1">
                <a:solidFill>
                  <a:srgbClr val="1F2937"/>
                </a:solidFill>
                <a:latin typeface="Inter"/>
              </a:rPr>
              <a:t>Verkoopinstrument</a:t>
            </a:r>
            <a:endParaRPr sz="130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E74049"/>
                </a:solidFill>
                <a:latin typeface="Inter"/>
              </a:rPr>
              <a:t>✕  </a:t>
            </a:r>
            <a:r>
              <a:rPr sz="1300" b="0" dirty="0">
                <a:solidFill>
                  <a:srgbClr val="1F2937"/>
                </a:solidFill>
                <a:latin typeface="Inter"/>
              </a:rPr>
              <a:t>Werk </a:t>
            </a:r>
            <a:r>
              <a:rPr sz="1300" b="0" dirty="0" err="1">
                <a:solidFill>
                  <a:srgbClr val="1F2937"/>
                </a:solidFill>
                <a:latin typeface="Inter"/>
              </a:rPr>
              <a:t>creëren</a:t>
            </a:r>
            <a:endParaRPr sz="130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E74049"/>
                </a:solidFill>
                <a:latin typeface="Inter"/>
              </a:rPr>
              <a:t>✕  </a:t>
            </a:r>
            <a:r>
              <a:rPr sz="1300" b="0" dirty="0">
                <a:solidFill>
                  <a:srgbClr val="1F2937"/>
                </a:solidFill>
                <a:latin typeface="Inter"/>
              </a:rPr>
              <a:t>Dossiers </a:t>
            </a:r>
            <a:r>
              <a:rPr sz="1300" b="0" dirty="0" err="1">
                <a:solidFill>
                  <a:srgbClr val="1F2937"/>
                </a:solidFill>
                <a:latin typeface="Inter"/>
              </a:rPr>
              <a:t>genereren</a:t>
            </a:r>
            <a:endParaRPr sz="1300" b="0" dirty="0">
              <a:solidFill>
                <a:srgbClr val="1F2937"/>
              </a:solidFill>
              <a:latin typeface="Inte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15400" y="2057400"/>
            <a:ext cx="2651760" cy="2788920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2FA766"/>
                </a:solidFill>
                <a:latin typeface="Inter"/>
              </a:rPr>
              <a:t>WÉL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743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✓  </a:t>
            </a:r>
            <a:r>
              <a:rPr sz="1300" b="0">
                <a:solidFill>
                  <a:srgbClr val="1F2937"/>
                </a:solidFill>
                <a:latin typeface="Inter"/>
              </a:rPr>
              <a:t>Inzicht geven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✓  </a:t>
            </a:r>
            <a:r>
              <a:rPr sz="1300" b="0">
                <a:solidFill>
                  <a:srgbClr val="1F2937"/>
                </a:solidFill>
                <a:latin typeface="Inter"/>
              </a:rPr>
              <a:t>Bewustwording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✓  </a:t>
            </a:r>
            <a:r>
              <a:rPr sz="1300" b="0">
                <a:solidFill>
                  <a:srgbClr val="1F2937"/>
                </a:solidFill>
                <a:latin typeface="Inter"/>
              </a:rPr>
              <a:t>Gesprek verdiepen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FA766"/>
                </a:solidFill>
                <a:latin typeface="Inter"/>
              </a:rPr>
              <a:t>✓  </a:t>
            </a:r>
            <a:r>
              <a:rPr sz="1300" b="0">
                <a:solidFill>
                  <a:srgbClr val="1F2937"/>
                </a:solidFill>
                <a:latin typeface="Inter"/>
              </a:rPr>
              <a:t>Prioriteiten zichtbaar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27080" cy="868680"/>
          </a:xfrm>
          <a:prstGeom prst="roundRect">
            <a:avLst>
              <a:gd name="adj" fmla="val 1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</a:rPr>
              <a:t>“Handig — ik krijg inzicht in mijn onderneming.”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>
                <a:solidFill>
                  <a:srgbClr val="E3F5EA"/>
                </a:solidFill>
                <a:latin typeface="Inter"/>
              </a:rPr>
              <a:t>Dát is het gevoel dat de Legal MRI moet oproepen. Geen verkoop, wel inzicht.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HOE WE HET BORGEN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De workflow in BaseNet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1F2937"/>
                </a:solidFill>
                <a:latin typeface="Inter"/>
              </a:rPr>
              <a:t>We weten inmiddels hoe we deze klantreis volledig kunnen inrichten in BaseNet.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2084831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2084831" cy="91440"/>
          </a:xfrm>
          <a:prstGeom prst="roundRect">
            <a:avLst>
              <a:gd name="adj" fmla="val 5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28803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02152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Automatische taken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904488"/>
            <a:ext cx="164591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Het juiste moment komt vanzelf naar boven.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2606040"/>
            <a:ext cx="2084831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34639" y="2606040"/>
            <a:ext cx="2084831" cy="91440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090671" y="28803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0671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5" y="3502152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Workflow-stappen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5" y="3904488"/>
            <a:ext cx="164591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Elke fase is een vaste stap in het systeem.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198" y="2606040"/>
            <a:ext cx="2084831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198" y="2606040"/>
            <a:ext cx="2084831" cy="91440"/>
          </a:xfrm>
          <a:prstGeom prst="roundRect">
            <a:avLst>
              <a:gd name="adj" fmla="val 50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285230" y="28803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4" y="3502152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Segmentatie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4" y="3904488"/>
            <a:ext cx="164591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Strategische klanten herkend en gemarkeerd.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57" y="2606040"/>
            <a:ext cx="2084831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223757" y="2606040"/>
            <a:ext cx="2084831" cy="91440"/>
          </a:xfrm>
          <a:prstGeom prst="roundRect">
            <a:avLst>
              <a:gd name="adj" fmla="val 50000"/>
            </a:avLst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79789" y="28803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9789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3" y="3502152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Herinneringen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3" y="3904488"/>
            <a:ext cx="164591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Niets valt tussen wal en schip.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16" y="2606040"/>
            <a:ext cx="2084831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18316" y="2606040"/>
            <a:ext cx="2084831" cy="91440"/>
          </a:xfrm>
          <a:prstGeom prst="roundRect">
            <a:avLst>
              <a:gd name="adj" fmla="val 5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674348" y="28803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4348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2" y="3502152"/>
            <a:ext cx="164591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>
                <a:solidFill>
                  <a:srgbClr val="142A33"/>
                </a:solidFill>
                <a:latin typeface="Inter"/>
              </a:rPr>
              <a:t>Eigenaarschap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2" y="3904488"/>
            <a:ext cx="164591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Voor elke taak is duidelijk wie aan zet is.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37760"/>
            <a:ext cx="5349240" cy="1188720"/>
          </a:xfrm>
          <a:prstGeom prst="roundRect">
            <a:avLst>
              <a:gd name="adj" fmla="val 8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120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E74049"/>
                </a:solidFill>
                <a:latin typeface="Inter"/>
              </a:rPr>
              <a:t>GEEN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4406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142A33"/>
                </a:solidFill>
                <a:latin typeface="Inter"/>
              </a:rPr>
              <a:t>Een proces dat afhankelijk is van geheugen.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937760"/>
            <a:ext cx="5349240" cy="1188720"/>
          </a:xfrm>
          <a:prstGeom prst="roundRect">
            <a:avLst>
              <a:gd name="adj" fmla="val 8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5120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4C200"/>
                </a:solidFill>
                <a:latin typeface="Inter"/>
              </a:rPr>
              <a:t>WÉL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4406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</a:rPr>
              <a:t>Een systeem. Betrouwbaar, herhaalbaar en geborgd.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WAAR HET OM DRAAIT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De kracht zit in het systeem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1F2937"/>
                </a:solidFill>
                <a:latin typeface="Inter"/>
              </a:rPr>
              <a:t>De kracht zit niet in losse activiteiten — niet in één mail, één telefoontje of één gesprek.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42A33"/>
                </a:solidFill>
                <a:latin typeface="Inter"/>
              </a:rPr>
              <a:t>De kracht zit erin dat elke stap voortbouwt op de vorige.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0400"/>
            <a:ext cx="1874519" cy="868680"/>
          </a:xfrm>
          <a:prstGeom prst="roundRect">
            <a:avLst>
              <a:gd name="adj" fmla="val 16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874519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Inter"/>
              </a:rPr>
              <a:t>Welkom</a:t>
            </a:r>
          </a:p>
        </p:txBody>
      </p:sp>
      <p:sp>
        <p:nvSpPr>
          <p:cNvPr id="12" name="Chevron 11"/>
          <p:cNvSpPr/>
          <p:nvPr/>
        </p:nvSpPr>
        <p:spPr>
          <a:xfrm>
            <a:off x="2670047" y="3474720"/>
            <a:ext cx="237744" cy="320040"/>
          </a:xfrm>
          <a:prstGeom prst="chevron">
            <a:avLst/>
          </a:prstGeom>
          <a:solidFill>
            <a:srgbClr val="52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07791" y="3200400"/>
            <a:ext cx="1874519" cy="868680"/>
          </a:xfrm>
          <a:prstGeom prst="roundRect">
            <a:avLst>
              <a:gd name="adj" fmla="val 16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1" y="3200400"/>
            <a:ext cx="1874519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Inter"/>
              </a:rPr>
              <a:t>Kennismaken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4800598" y="3474720"/>
            <a:ext cx="237744" cy="320040"/>
          </a:xfrm>
          <a:prstGeom prst="chevron">
            <a:avLst/>
          </a:prstGeom>
          <a:solidFill>
            <a:srgbClr val="52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38342" y="3200400"/>
            <a:ext cx="1874519" cy="868680"/>
          </a:xfrm>
          <a:prstGeom prst="roundRect">
            <a:avLst>
              <a:gd name="adj" fmla="val 16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38342" y="3200400"/>
            <a:ext cx="1874519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450" b="1">
                <a:solidFill>
                  <a:srgbClr val="004244"/>
                </a:solidFill>
                <a:latin typeface="Inter"/>
              </a:rPr>
              <a:t>Waarde toevoegen</a:t>
            </a:r>
          </a:p>
        </p:txBody>
      </p:sp>
      <p:sp>
        <p:nvSpPr>
          <p:cNvPr id="18" name="Chevron 17"/>
          <p:cNvSpPr/>
          <p:nvPr/>
        </p:nvSpPr>
        <p:spPr>
          <a:xfrm>
            <a:off x="6931149" y="3474720"/>
            <a:ext cx="237744" cy="320040"/>
          </a:xfrm>
          <a:prstGeom prst="chevron">
            <a:avLst/>
          </a:prstGeom>
          <a:solidFill>
            <a:srgbClr val="52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68893" y="3200400"/>
            <a:ext cx="1874519" cy="868680"/>
          </a:xfrm>
          <a:prstGeom prst="roundRect">
            <a:avLst>
              <a:gd name="adj" fmla="val 16000"/>
            </a:avLst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68893" y="3200400"/>
            <a:ext cx="1874519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Inter"/>
              </a:rPr>
              <a:t>Luisteren</a:t>
            </a:r>
          </a:p>
        </p:txBody>
      </p:sp>
      <p:sp>
        <p:nvSpPr>
          <p:cNvPr id="21" name="Chevron 20"/>
          <p:cNvSpPr/>
          <p:nvPr/>
        </p:nvSpPr>
        <p:spPr>
          <a:xfrm>
            <a:off x="9061700" y="3474720"/>
            <a:ext cx="237744" cy="320040"/>
          </a:xfrm>
          <a:prstGeom prst="chevron">
            <a:avLst/>
          </a:prstGeom>
          <a:solidFill>
            <a:srgbClr val="52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99444" y="3200400"/>
            <a:ext cx="1874519" cy="868680"/>
          </a:xfrm>
          <a:prstGeom prst="roundRect">
            <a:avLst>
              <a:gd name="adj" fmla="val 16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9444" y="3200400"/>
            <a:ext cx="1874519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Inter"/>
              </a:rPr>
              <a:t>Vooruitkijken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2628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7240" y="4526280"/>
            <a:ext cx="146304" cy="1417320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745736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142A33"/>
                </a:solidFill>
                <a:latin typeface="Inter"/>
              </a:rPr>
              <a:t>Het resultaat: iets wat veel advocatenkantoren niet hebben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84648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>
                <a:solidFill>
                  <a:srgbClr val="1F2937"/>
                </a:solidFill>
                <a:latin typeface="Inter"/>
              </a:rPr>
              <a:t>Een relatie die draait om de ondernemer en de onderneming — in plaats van uitsluitend om juridische dossiers. Dat is de ambitie van VDT.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NA 90 DAGEN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Succescriteria van de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1F2937"/>
                </a:solidFill>
                <a:latin typeface="Inter"/>
              </a:rPr>
              <a:t>De onboarding is geslaagd als de klant: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1092708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927080" cy="109728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101041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2FA766"/>
                </a:solidFill>
                <a:latin typeface="Inter"/>
              </a:rPr>
              <a:t>AUDIT CHECKLIST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346704"/>
            <a:ext cx="10104120" cy="420624"/>
          </a:xfrm>
          <a:prstGeom prst="roundRect">
            <a:avLst>
              <a:gd name="adj" fmla="val 2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43000" y="33832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46704"/>
            <a:ext cx="9372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142A33"/>
                </a:solidFill>
                <a:latin typeface="Inter"/>
              </a:rPr>
              <a:t>Exact weet wie hij of zij moet bellen bij VDT.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849624"/>
            <a:ext cx="10104120" cy="420624"/>
          </a:xfrm>
          <a:prstGeom prst="roundRect">
            <a:avLst>
              <a:gd name="adj" fmla="val 2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43000" y="388620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849624"/>
            <a:ext cx="9372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142A33"/>
                </a:solidFill>
                <a:latin typeface="Inter"/>
              </a:rPr>
              <a:t>Minimaal twee mensen binnen VDT persoonlijk kent.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352544"/>
            <a:ext cx="10104120" cy="420624"/>
          </a:xfrm>
          <a:prstGeom prst="roundRect">
            <a:avLst>
              <a:gd name="adj" fmla="val 2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43000" y="43891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389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52544"/>
            <a:ext cx="9372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142A33"/>
                </a:solidFill>
                <a:latin typeface="Inter"/>
              </a:rPr>
              <a:t>Zich gekend voelt en merkt dat VDT de onderneming écht begrijpt.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855464"/>
            <a:ext cx="10104120" cy="420624"/>
          </a:xfrm>
          <a:prstGeom prst="roundRect">
            <a:avLst>
              <a:gd name="adj" fmla="val 2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489204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892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855464"/>
            <a:ext cx="9372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0">
                <a:solidFill>
                  <a:srgbClr val="142A33"/>
                </a:solidFill>
                <a:latin typeface="Inter"/>
              </a:rPr>
              <a:t>Minimaal één keer proactief is geholpen — zonder eigen verzoek.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77840"/>
            <a:ext cx="10927080" cy="868680"/>
          </a:xfrm>
          <a:prstGeom prst="roundRect">
            <a:avLst>
              <a:gd name="adj" fmla="val 1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Inter"/>
              </a:rPr>
              <a:t>Het resultaat:  </a:t>
            </a:r>
            <a:r>
              <a:rPr sz="1500" b="0">
                <a:solidFill>
                  <a:srgbClr val="FFFFFF"/>
                </a:solidFill>
                <a:latin typeface="Inter"/>
              </a:rPr>
              <a:t>een relatie die verder gaat dan een juridisch dossier.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EFF8F1"/>
                </a:solidFill>
                <a:latin typeface="Inter"/>
              </a:rPr>
              <a:t>Adoptie van VDT over de volle breedte.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WAAROM DEZE KLANTREIS?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Van dossierrelatie naar ondernemersrelatie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074920" cy="315468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237744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52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414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42A33"/>
                </a:solidFill>
                <a:latin typeface="Inter"/>
              </a:rPr>
              <a:t>De dossierrelatie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43784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525C6B"/>
                </a:solidFill>
                <a:latin typeface="Inter"/>
              </a:rPr>
              <a:t>Hoe het vaak gaat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42900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525C6B"/>
                </a:solidFill>
                <a:latin typeface="Inter"/>
              </a:rPr>
              <a:t>–  </a:t>
            </a:r>
            <a:r>
              <a:rPr sz="1350" b="0">
                <a:solidFill>
                  <a:srgbClr val="1F2937"/>
                </a:solidFill>
                <a:latin typeface="Inter"/>
              </a:rPr>
              <a:t>Contact alleen als er een probleem speelt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525C6B"/>
                </a:solidFill>
                <a:latin typeface="Inter"/>
              </a:rPr>
              <a:t>–  </a:t>
            </a:r>
            <a:r>
              <a:rPr sz="1350" b="0">
                <a:solidFill>
                  <a:srgbClr val="1F2937"/>
                </a:solidFill>
                <a:latin typeface="Inter"/>
              </a:rPr>
              <a:t>Draait om dossiers en losse werkzaamheden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525C6B"/>
                </a:solidFill>
                <a:latin typeface="Inter"/>
              </a:rPr>
              <a:t>–  </a:t>
            </a:r>
            <a:r>
              <a:rPr sz="1350" b="0">
                <a:solidFill>
                  <a:srgbClr val="1F2937"/>
                </a:solidFill>
                <a:latin typeface="Inter"/>
              </a:rPr>
              <a:t>Reactief: wachten tot de klant belt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525C6B"/>
                </a:solidFill>
                <a:latin typeface="Inter"/>
              </a:rPr>
              <a:t>–  </a:t>
            </a:r>
            <a:r>
              <a:rPr sz="1350" b="0">
                <a:solidFill>
                  <a:srgbClr val="1F2937"/>
                </a:solidFill>
                <a:latin typeface="Inter"/>
              </a:rPr>
              <a:t>We kennen het dossier, niet de onderneming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2057400"/>
            <a:ext cx="5074920" cy="315468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73952" y="2057400"/>
            <a:ext cx="128016" cy="3154680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93992" y="237744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377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4414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2FA766"/>
                </a:solidFill>
                <a:latin typeface="Inter"/>
              </a:rPr>
              <a:t>De ondernemersrelatie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843784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F7A55"/>
                </a:solidFill>
                <a:latin typeface="Inter"/>
              </a:rPr>
              <a:t>Waar VDT naartoe bouwt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2900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FA766"/>
                </a:solidFill>
                <a:latin typeface="Inter"/>
              </a:rPr>
              <a:t>✓  </a:t>
            </a:r>
            <a:r>
              <a:rPr sz="1350" b="0">
                <a:solidFill>
                  <a:srgbClr val="1F2937"/>
                </a:solidFill>
                <a:latin typeface="Inter"/>
              </a:rPr>
              <a:t>Contact vóórdat er een probleem ontstaat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FA766"/>
                </a:solidFill>
                <a:latin typeface="Inter"/>
              </a:rPr>
              <a:t>✓  </a:t>
            </a:r>
            <a:r>
              <a:rPr sz="1350" b="0">
                <a:solidFill>
                  <a:srgbClr val="1F2937"/>
                </a:solidFill>
                <a:latin typeface="Inter"/>
              </a:rPr>
              <a:t>Draait om de ondernemer én de onderneming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FA766"/>
                </a:solidFill>
                <a:latin typeface="Inter"/>
              </a:rPr>
              <a:t>✓  </a:t>
            </a:r>
            <a:r>
              <a:rPr sz="1350" b="0">
                <a:solidFill>
                  <a:srgbClr val="1F2937"/>
                </a:solidFill>
                <a:latin typeface="Inter"/>
              </a:rPr>
              <a:t>Proactief: wij denken mee en kijken vooruit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FA766"/>
                </a:solidFill>
                <a:latin typeface="Inter"/>
              </a:rPr>
              <a:t>✓  </a:t>
            </a:r>
            <a:r>
              <a:rPr sz="1350" b="0">
                <a:solidFill>
                  <a:srgbClr val="1F2937"/>
                </a:solidFill>
                <a:latin typeface="Inter"/>
              </a:rPr>
              <a:t>We begrijpen de onderneming achter het dossier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1F2937"/>
                </a:solidFill>
                <a:latin typeface="Inter"/>
              </a:rPr>
              <a:t>Cross-selling is geen doel op zich — het is het </a:t>
            </a:r>
            <a:r>
              <a:rPr sz="1400" b="1">
                <a:solidFill>
                  <a:srgbClr val="007F81"/>
                </a:solidFill>
                <a:latin typeface="Inter"/>
              </a:rPr>
              <a:t>logische gevolg</a:t>
            </a:r>
            <a:r>
              <a:rPr sz="1400" b="0">
                <a:solidFill>
                  <a:srgbClr val="1F2937"/>
                </a:solidFill>
                <a:latin typeface="Inter"/>
              </a:rPr>
              <a:t> van relevantie, vertrouwen en klantwaarde.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DE GEDACHTE ERACHTER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De filosofie: vijf principes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49300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118872" cy="1783080"/>
          </a:xfrm>
          <a:prstGeom prst="roundRect">
            <a:avLst>
              <a:gd name="adj" fmla="val 5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1832" y="2404872"/>
            <a:ext cx="530352" cy="530352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14016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142A33"/>
                </a:solidFill>
                <a:latin typeface="Inter"/>
              </a:rPr>
              <a:t>We leren de ondernemer kennen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27248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200" b="0">
                <a:solidFill>
                  <a:srgbClr val="525C6B"/>
                </a:solidFill>
                <a:latin typeface="Inter"/>
              </a:rPr>
              <a:t>Niet alleen het dossier — de mens achter de vraag.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103120"/>
            <a:ext cx="349300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34256" y="2103120"/>
            <a:ext cx="118872" cy="1783080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36008" y="2404872"/>
            <a:ext cx="530352" cy="530352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240487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414016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142A33"/>
                </a:solidFill>
                <a:latin typeface="Inter"/>
              </a:rPr>
              <a:t>We leren de onderneming kennen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3127248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200" b="0">
                <a:solidFill>
                  <a:srgbClr val="525C6B"/>
                </a:solidFill>
                <a:latin typeface="Inter"/>
              </a:rPr>
              <a:t>Wat speelt er? Waar liggen uitdagingen en ambities?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2103120"/>
            <a:ext cx="349300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28432" y="2103120"/>
            <a:ext cx="118872" cy="1783080"/>
          </a:xfrm>
          <a:prstGeom prst="roundRect">
            <a:avLst>
              <a:gd name="adj" fmla="val 50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30184" y="2404872"/>
            <a:ext cx="530352" cy="530352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40487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414016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142A33"/>
                </a:solidFill>
                <a:latin typeface="Inter"/>
              </a:rPr>
              <a:t>We voegen eerst waarde toe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27248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200" b="0">
                <a:solidFill>
                  <a:srgbClr val="525C6B"/>
                </a:solidFill>
                <a:latin typeface="Inter"/>
              </a:rPr>
              <a:t>Eerst helpen, dan adviseren. Nooit andersom.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4087368"/>
            <a:ext cx="349300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487168" y="4087368"/>
            <a:ext cx="118872" cy="1783080"/>
          </a:xfrm>
          <a:prstGeom prst="roundRect">
            <a:avLst>
              <a:gd name="adj" fmla="val 50000"/>
            </a:avLst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788920" y="4389120"/>
            <a:ext cx="530352" cy="530352"/>
          </a:xfrm>
          <a:prstGeom prst="ellipse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88920" y="43891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4398264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142A33"/>
                </a:solidFill>
                <a:latin typeface="Inter"/>
              </a:rPr>
              <a:t>We luisteren actief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5111496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200" b="0">
                <a:solidFill>
                  <a:srgbClr val="525C6B"/>
                </a:solidFill>
                <a:latin typeface="Inter"/>
              </a:rPr>
              <a:t>Niet wachten op feedback — zelf contact opnemen.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087368"/>
            <a:ext cx="349300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81344" y="4087368"/>
            <a:ext cx="118872" cy="1783080"/>
          </a:xfrm>
          <a:prstGeom prst="roundRect">
            <a:avLst>
              <a:gd name="adj" fmla="val 5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83096" y="4389120"/>
            <a:ext cx="530352" cy="530352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83096" y="43891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1464" y="4398264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142A33"/>
                </a:solidFill>
                <a:latin typeface="Inter"/>
              </a:rPr>
              <a:t>We kijken vooruit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5111496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200" b="0">
                <a:solidFill>
                  <a:srgbClr val="525C6B"/>
                </a:solidFill>
                <a:latin typeface="Inter"/>
              </a:rPr>
              <a:t>Niet alleen vandaag, maar de onderneming van morgen.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HET OVERZICHT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42A33"/>
                </a:solidFill>
                <a:latin typeface="Inter"/>
              </a:rPr>
              <a:t>De vijf fases van de klantreis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54680"/>
            <a:ext cx="10469880" cy="54864"/>
          </a:xfrm>
          <a:prstGeom prst="rect">
            <a:avLst/>
          </a:prstGeom>
          <a:solidFill>
            <a:srgbClr val="E2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603504" cy="603504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296" y="2971800"/>
            <a:ext cx="27432" cy="18288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7180" y="1737360"/>
            <a:ext cx="1874519" cy="1234440"/>
          </a:xfrm>
          <a:prstGeom prst="roundRect">
            <a:avLst>
              <a:gd name="adj" fmla="val 1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" y="1737360"/>
            <a:ext cx="1874519" cy="91440"/>
          </a:xfrm>
          <a:prstGeom prst="roundRect">
            <a:avLst>
              <a:gd name="adj" fmla="val 50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" y="1883664"/>
            <a:ext cx="16916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sz="1250" b="1" dirty="0">
                <a:solidFill>
                  <a:srgbClr val="142A33"/>
                </a:solidFill>
                <a:latin typeface="Inter"/>
              </a:rPr>
              <a:t>Welkom &amp; Onboarding</a:t>
            </a:r>
            <a:endParaRPr lang="nl-NL" sz="1250" b="1" dirty="0">
              <a:solidFill>
                <a:srgbClr val="142A33"/>
              </a:solidFill>
              <a:latin typeface="Inter"/>
            </a:endParaRP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Mail</a:t>
            </a: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Naar alle nieuwe klanten</a:t>
            </a:r>
            <a:endParaRPr sz="1250" u="sng" dirty="0">
              <a:solidFill>
                <a:srgbClr val="142A33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8620" y="2450592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07F81"/>
                </a:solidFill>
                <a:latin typeface="Inter"/>
              </a:rPr>
              <a:t>Direct na klantwording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" y="2688336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525C6B"/>
                </a:solidFill>
                <a:latin typeface="Inter"/>
              </a:rPr>
              <a:t>Warme, persoonlijke start</a:t>
            </a:r>
          </a:p>
        </p:txBody>
      </p:sp>
      <p:sp>
        <p:nvSpPr>
          <p:cNvPr id="18" name="Oval 17"/>
          <p:cNvSpPr/>
          <p:nvPr/>
        </p:nvSpPr>
        <p:spPr>
          <a:xfrm>
            <a:off x="3367278" y="2880360"/>
            <a:ext cx="603504" cy="603504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7278" y="28803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9886" y="3483864"/>
            <a:ext cx="27432" cy="18288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31770" y="3657600"/>
            <a:ext cx="1874519" cy="192024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31770" y="3657600"/>
            <a:ext cx="1874519" cy="91440"/>
          </a:xfrm>
          <a:prstGeom prst="roundRect">
            <a:avLst>
              <a:gd name="adj" fmla="val 50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23210" y="3803904"/>
            <a:ext cx="16916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sz="1250" b="1" dirty="0" err="1">
                <a:solidFill>
                  <a:srgbClr val="142A33"/>
                </a:solidFill>
                <a:latin typeface="Inter"/>
              </a:rPr>
              <a:t>Kennismaking</a:t>
            </a:r>
            <a:r>
              <a:rPr sz="1250" b="1" dirty="0">
                <a:solidFill>
                  <a:srgbClr val="142A33"/>
                </a:solidFill>
                <a:latin typeface="Inter"/>
              </a:rPr>
              <a:t> &amp; Legal MRI</a:t>
            </a:r>
            <a:endParaRPr lang="nl-NL" sz="1250" b="1" dirty="0">
              <a:solidFill>
                <a:srgbClr val="142A33"/>
              </a:solidFill>
              <a:latin typeface="Inter"/>
            </a:endParaRP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Gesprek – enkel strategische klanten</a:t>
            </a: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&gt;10mw+DMU bekend</a:t>
            </a:r>
            <a:endParaRPr sz="1250" u="sng" dirty="0">
              <a:solidFill>
                <a:srgbClr val="142A33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23210" y="4983480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dirty="0">
                <a:solidFill>
                  <a:srgbClr val="2FA766"/>
                </a:solidFill>
                <a:latin typeface="Inter"/>
              </a:rPr>
              <a:t>± 14 </a:t>
            </a:r>
            <a:r>
              <a:rPr sz="1050" b="1" dirty="0" err="1">
                <a:solidFill>
                  <a:srgbClr val="2FA766"/>
                </a:solidFill>
                <a:latin typeface="Inter"/>
              </a:rPr>
              <a:t>dagen</a:t>
            </a:r>
            <a:endParaRPr sz="1050" b="1" dirty="0">
              <a:solidFill>
                <a:srgbClr val="2FA766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23210" y="5221224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950" b="0" dirty="0" err="1">
                <a:solidFill>
                  <a:srgbClr val="525C6B"/>
                </a:solidFill>
                <a:latin typeface="Inter"/>
              </a:rPr>
              <a:t>Onderneming</a:t>
            </a:r>
            <a:r>
              <a:rPr sz="950" b="0" dirty="0">
                <a:solidFill>
                  <a:srgbClr val="525C6B"/>
                </a:solidFill>
                <a:latin typeface="Inter"/>
              </a:rPr>
              <a:t> </a:t>
            </a:r>
            <a:r>
              <a:rPr sz="950" b="0" dirty="0" err="1">
                <a:solidFill>
                  <a:srgbClr val="525C6B"/>
                </a:solidFill>
                <a:latin typeface="Inter"/>
              </a:rPr>
              <a:t>leren</a:t>
            </a:r>
            <a:r>
              <a:rPr sz="950" b="0" dirty="0">
                <a:solidFill>
                  <a:srgbClr val="525C6B"/>
                </a:solidFill>
                <a:latin typeface="Inter"/>
              </a:rPr>
              <a:t> </a:t>
            </a:r>
            <a:r>
              <a:rPr sz="950" b="0" dirty="0" err="1">
                <a:solidFill>
                  <a:srgbClr val="525C6B"/>
                </a:solidFill>
                <a:latin typeface="Inter"/>
              </a:rPr>
              <a:t>kennen</a:t>
            </a:r>
            <a:endParaRPr sz="950" b="0" dirty="0">
              <a:solidFill>
                <a:srgbClr val="525C6B"/>
              </a:solidFill>
              <a:latin typeface="Inter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801868" y="2880360"/>
            <a:ext cx="603504" cy="603504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1868" y="28803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2971800"/>
            <a:ext cx="27432" cy="182880"/>
          </a:xfrm>
          <a:prstGeom prst="rect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166360" y="1481328"/>
            <a:ext cx="1874519" cy="1490472"/>
          </a:xfrm>
          <a:prstGeom prst="roundRect">
            <a:avLst>
              <a:gd name="adj" fmla="val 10000"/>
            </a:avLst>
          </a:prstGeom>
          <a:solidFill>
            <a:srgbClr val="FD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66360" y="1389888"/>
            <a:ext cx="1874519" cy="91440"/>
          </a:xfrm>
          <a:prstGeom prst="roundRect">
            <a:avLst>
              <a:gd name="adj" fmla="val 50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57800" y="1499616"/>
            <a:ext cx="16916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sz="1250" b="1" dirty="0" err="1">
                <a:solidFill>
                  <a:srgbClr val="142A33"/>
                </a:solidFill>
                <a:latin typeface="Inter"/>
              </a:rPr>
              <a:t>Proactief</a:t>
            </a:r>
            <a:r>
              <a:rPr sz="1250" b="1" dirty="0">
                <a:solidFill>
                  <a:srgbClr val="142A33"/>
                </a:solidFill>
                <a:latin typeface="Inter"/>
              </a:rPr>
              <a:t> </a:t>
            </a:r>
            <a:r>
              <a:rPr sz="1250" b="1" dirty="0" err="1">
                <a:solidFill>
                  <a:srgbClr val="142A33"/>
                </a:solidFill>
                <a:latin typeface="Inter"/>
              </a:rPr>
              <a:t>waarde</a:t>
            </a:r>
            <a:r>
              <a:rPr sz="1250" b="1" dirty="0">
                <a:solidFill>
                  <a:srgbClr val="142A33"/>
                </a:solidFill>
                <a:latin typeface="Inter"/>
              </a:rPr>
              <a:t> </a:t>
            </a:r>
            <a:r>
              <a:rPr sz="1250" b="1" dirty="0" err="1">
                <a:solidFill>
                  <a:srgbClr val="142A33"/>
                </a:solidFill>
                <a:latin typeface="Inter"/>
              </a:rPr>
              <a:t>toevoegen</a:t>
            </a:r>
            <a:endParaRPr lang="nl-NL" sz="1250" b="1" dirty="0">
              <a:solidFill>
                <a:srgbClr val="142A33"/>
              </a:solidFill>
              <a:latin typeface="Inter"/>
            </a:endParaRP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Mail naar nieuwe alle klanten</a:t>
            </a:r>
          </a:p>
          <a:p>
            <a:pPr algn="ctr">
              <a:lnSpc>
                <a:spcPct val="98000"/>
              </a:lnSpc>
              <a:spcBef>
                <a:spcPts val="0"/>
              </a:spcBef>
            </a:pPr>
            <a:endParaRPr sz="1250" dirty="0">
              <a:solidFill>
                <a:srgbClr val="142A33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57800" y="2450592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04244"/>
                </a:solidFill>
                <a:latin typeface="Inter"/>
              </a:rPr>
              <a:t>± 30 dagen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2688336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525C6B"/>
                </a:solidFill>
                <a:latin typeface="Inter"/>
              </a:rPr>
              <a:t>Helpen zonder tegenprestatie</a:t>
            </a:r>
          </a:p>
        </p:txBody>
      </p:sp>
      <p:sp>
        <p:nvSpPr>
          <p:cNvPr id="34" name="Oval 33"/>
          <p:cNvSpPr/>
          <p:nvPr/>
        </p:nvSpPr>
        <p:spPr>
          <a:xfrm>
            <a:off x="8236458" y="2880360"/>
            <a:ext cx="603504" cy="603504"/>
          </a:xfrm>
          <a:prstGeom prst="ellipse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36458" y="28803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29066" y="3483864"/>
            <a:ext cx="27432" cy="182880"/>
          </a:xfrm>
          <a:prstGeom prst="rect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600950" y="3657600"/>
            <a:ext cx="1874519" cy="1234440"/>
          </a:xfrm>
          <a:prstGeom prst="roundRect">
            <a:avLst>
              <a:gd name="adj" fmla="val 10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00950" y="3657600"/>
            <a:ext cx="1874519" cy="91440"/>
          </a:xfrm>
          <a:prstGeom prst="roundRect">
            <a:avLst>
              <a:gd name="adj" fmla="val 50000"/>
            </a:avLst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92390" y="3803904"/>
            <a:ext cx="16916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sz="1250" b="1" dirty="0">
                <a:solidFill>
                  <a:srgbClr val="142A33"/>
                </a:solidFill>
                <a:latin typeface="Inter"/>
              </a:rPr>
              <a:t>90 </a:t>
            </a:r>
            <a:r>
              <a:rPr sz="1250" b="1" dirty="0" err="1">
                <a:solidFill>
                  <a:srgbClr val="142A33"/>
                </a:solidFill>
                <a:latin typeface="Inter"/>
              </a:rPr>
              <a:t>dagen</a:t>
            </a:r>
            <a:r>
              <a:rPr sz="1250" b="1" dirty="0">
                <a:solidFill>
                  <a:srgbClr val="142A33"/>
                </a:solidFill>
                <a:latin typeface="Inter"/>
              </a:rPr>
              <a:t> Check-in</a:t>
            </a:r>
            <a:endParaRPr lang="nl-NL" sz="1250" b="1" dirty="0">
              <a:solidFill>
                <a:srgbClr val="142A33"/>
              </a:solidFill>
              <a:latin typeface="Inter"/>
            </a:endParaRP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Telefoon – enkel </a:t>
            </a:r>
            <a:r>
              <a:rPr lang="nl-NL" sz="1250" u="sng" dirty="0" err="1">
                <a:solidFill>
                  <a:srgbClr val="142A33"/>
                </a:solidFill>
                <a:latin typeface="Inter"/>
              </a:rPr>
              <a:t>strateische</a:t>
            </a:r>
            <a:r>
              <a:rPr lang="nl-NL" sz="1250" u="sng" dirty="0">
                <a:solidFill>
                  <a:srgbClr val="142A33"/>
                </a:solidFill>
                <a:latin typeface="Inter"/>
              </a:rPr>
              <a:t> klanten</a:t>
            </a:r>
            <a:endParaRPr sz="1250" u="sng" dirty="0">
              <a:solidFill>
                <a:srgbClr val="142A33"/>
              </a:solidFill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92390" y="4370832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E74049"/>
                </a:solidFill>
                <a:latin typeface="Inter"/>
              </a:rPr>
              <a:t>± 90 dagen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2390" y="4608576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525C6B"/>
                </a:solidFill>
                <a:latin typeface="Inter"/>
              </a:rPr>
              <a:t>Luisteren en verdiepen</a:t>
            </a:r>
          </a:p>
        </p:txBody>
      </p:sp>
      <p:sp>
        <p:nvSpPr>
          <p:cNvPr id="42" name="Oval 41"/>
          <p:cNvSpPr/>
          <p:nvPr/>
        </p:nvSpPr>
        <p:spPr>
          <a:xfrm>
            <a:off x="10671048" y="2880360"/>
            <a:ext cx="603504" cy="6035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71048" y="28803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63656" y="2971800"/>
            <a:ext cx="27432" cy="182880"/>
          </a:xfrm>
          <a:prstGeom prst="rect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035540" y="1408176"/>
            <a:ext cx="1874519" cy="1563624"/>
          </a:xfrm>
          <a:prstGeom prst="roundRect">
            <a:avLst>
              <a:gd name="adj" fmla="val 1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035540" y="1399032"/>
            <a:ext cx="1874519" cy="91440"/>
          </a:xfrm>
          <a:prstGeom prst="roundRect">
            <a:avLst>
              <a:gd name="adj" fmla="val 5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26980" y="1499616"/>
            <a:ext cx="169163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sz="1250" b="1" dirty="0" err="1">
                <a:solidFill>
                  <a:srgbClr val="142A33"/>
                </a:solidFill>
                <a:latin typeface="Inter"/>
              </a:rPr>
              <a:t>Onderneem</a:t>
            </a:r>
            <a:r>
              <a:rPr sz="1250" b="1" dirty="0">
                <a:solidFill>
                  <a:srgbClr val="142A33"/>
                </a:solidFill>
                <a:latin typeface="Inter"/>
              </a:rPr>
              <a:t> Mee </a:t>
            </a:r>
            <a:r>
              <a:rPr sz="1250" b="1" dirty="0" err="1">
                <a:solidFill>
                  <a:srgbClr val="142A33"/>
                </a:solidFill>
                <a:latin typeface="Inter"/>
              </a:rPr>
              <a:t>Gesprek</a:t>
            </a:r>
            <a:r>
              <a:rPr sz="1250" b="1" dirty="0">
                <a:solidFill>
                  <a:srgbClr val="142A33"/>
                </a:solidFill>
                <a:latin typeface="Inter"/>
              </a:rPr>
              <a:t> (OMG)</a:t>
            </a:r>
            <a:endParaRPr lang="nl-NL" sz="1250" b="1" dirty="0">
              <a:solidFill>
                <a:srgbClr val="142A33"/>
              </a:solidFill>
              <a:latin typeface="Inter"/>
            </a:endParaRPr>
          </a:p>
          <a:p>
            <a:pPr algn="ctr">
              <a:lnSpc>
                <a:spcPct val="98000"/>
              </a:lnSpc>
              <a:spcBef>
                <a:spcPts val="0"/>
              </a:spcBef>
            </a:pPr>
            <a:r>
              <a:rPr lang="nl-NL" sz="1250" u="sng" dirty="0">
                <a:solidFill>
                  <a:srgbClr val="142A33"/>
                </a:solidFill>
                <a:latin typeface="Inter"/>
              </a:rPr>
              <a:t>Gesprek – enkel strategische klanten</a:t>
            </a:r>
            <a:endParaRPr sz="1250" u="sng" dirty="0">
              <a:solidFill>
                <a:srgbClr val="142A33"/>
              </a:solidFill>
              <a:latin typeface="Inte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126980" y="2450592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04244"/>
                </a:solidFill>
                <a:latin typeface="Inter"/>
              </a:rPr>
              <a:t>± 12 maanden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26980" y="2688336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525C6B"/>
                </a:solidFill>
                <a:latin typeface="Inter"/>
              </a:rPr>
              <a:t>Vooruitkijken samen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1F2937"/>
                </a:solidFill>
                <a:latin typeface="Inter"/>
              </a:rPr>
              <a:t>Elke stap bouwt voort op de vorige: </a:t>
            </a:r>
            <a:r>
              <a:rPr sz="1400" b="1">
                <a:solidFill>
                  <a:srgbClr val="007F81"/>
                </a:solidFill>
                <a:latin typeface="Inter"/>
              </a:rPr>
              <a:t>Welkom → Kennismaken → Waarde toevoegen → Luisteren → Vooruitkijken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669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7F81"/>
                </a:solidFill>
                <a:latin typeface="Inter"/>
              </a:rPr>
              <a:t>FASE 1  ·  DIRECT NA KLANTWORDING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877824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42A33"/>
                </a:solidFill>
                <a:latin typeface="Inter"/>
              </a:rPr>
              <a:t>Welkom &amp; Onboarding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572768"/>
            <a:ext cx="9601200" cy="566928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572768"/>
            <a:ext cx="9235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7F81"/>
                </a:solidFill>
                <a:latin typeface="Inter"/>
              </a:rPr>
              <a:t>Doel:  </a:t>
            </a:r>
            <a:r>
              <a:rPr sz="1300" b="0">
                <a:solidFill>
                  <a:srgbClr val="1F2937"/>
                </a:solidFill>
                <a:latin typeface="Inter"/>
              </a:rPr>
              <a:t>Een warme, persoonlijke en laagdrempelige start van de samenwerking.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61264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7F81"/>
                </a:solidFill>
                <a:latin typeface="Inter"/>
              </a:rPr>
              <a:t>WAT DOEN 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7F81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Persoonlijke welkomstmail vanuit het klantteam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7F81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Klant aanmaken &amp; gegevens verrijken (kort formulier)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7F81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Laten zien: een héél team staat klaar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7F81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Direct duidelijk: de lijnen staan altijd 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68880"/>
            <a:ext cx="4526280" cy="2926080"/>
          </a:xfrm>
          <a:prstGeom prst="roundRect">
            <a:avLst>
              <a:gd name="adj" fmla="val 5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724912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7F81"/>
                </a:solidFill>
                <a:latin typeface="Inter"/>
              </a:rPr>
              <a:t>KERNWOORDEN UIT DE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03580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De taal die onze waarden laat zien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493008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Samen</a:t>
            </a:r>
          </a:p>
        </p:txBody>
      </p:sp>
      <p:sp>
        <p:nvSpPr>
          <p:cNvPr id="18" name="Oval 17"/>
          <p:cNvSpPr/>
          <p:nvPr/>
        </p:nvSpPr>
        <p:spPr>
          <a:xfrm>
            <a:off x="7516368" y="3630168"/>
            <a:ext cx="146304" cy="146304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3968496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968496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Sparren</a:t>
            </a:r>
          </a:p>
        </p:txBody>
      </p:sp>
      <p:sp>
        <p:nvSpPr>
          <p:cNvPr id="21" name="Oval 20"/>
          <p:cNvSpPr/>
          <p:nvPr/>
        </p:nvSpPr>
        <p:spPr>
          <a:xfrm>
            <a:off x="7516368" y="4105656"/>
            <a:ext cx="146304" cy="146304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0920" y="4443984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44398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Meedenken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4581144"/>
            <a:ext cx="146304" cy="146304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4919472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491947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7F81"/>
                </a:solidFill>
                <a:latin typeface="Inter"/>
              </a:rPr>
              <a:t>Lijnen altijd open</a:t>
            </a:r>
          </a:p>
        </p:txBody>
      </p:sp>
      <p:sp>
        <p:nvSpPr>
          <p:cNvPr id="27" name="Oval 26"/>
          <p:cNvSpPr/>
          <p:nvPr/>
        </p:nvSpPr>
        <p:spPr>
          <a:xfrm>
            <a:off x="7516368" y="5056632"/>
            <a:ext cx="146304" cy="146304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name="adj" fmla="val 18000"/>
            </a:avLst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Inter"/>
              </a:rPr>
              <a:t>Gewenst resultaat:  </a:t>
            </a:r>
            <a:r>
              <a:rPr sz="1300" b="0">
                <a:solidFill>
                  <a:srgbClr val="FFFFFF"/>
                </a:solidFill>
                <a:latin typeface="Inter"/>
              </a:rPr>
              <a:t>De ondernemer voelt zich welkom, gezien en serieus genomen.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669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FA766"/>
                </a:solidFill>
                <a:latin typeface="Inter"/>
              </a:rPr>
              <a:t>FASE 2  ·  ± 14 DAGEN NA KLANTWORDING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877824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42A33"/>
                </a:solidFill>
                <a:latin typeface="Inter"/>
              </a:rPr>
              <a:t>Kennismaking &amp; Legal MRI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572768"/>
            <a:ext cx="9601200" cy="566928"/>
          </a:xfrm>
          <a:prstGeom prst="roundRect">
            <a:avLst>
              <a:gd name="adj" fmla="val 2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572768"/>
            <a:ext cx="9235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2FA766"/>
                </a:solidFill>
                <a:latin typeface="Inter"/>
              </a:rPr>
              <a:t>Doel:  </a:t>
            </a:r>
            <a:r>
              <a:rPr sz="1300" b="0">
                <a:solidFill>
                  <a:srgbClr val="1F2937"/>
                </a:solidFill>
                <a:latin typeface="Inter"/>
              </a:rPr>
              <a:t>De onderneming achter het dossier leren kennen — niet om iets te verkopen.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61264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FA766"/>
                </a:solidFill>
                <a:latin typeface="Inter"/>
              </a:rPr>
              <a:t>WAT DOEN 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2FA766"/>
                </a:solidFill>
                <a:latin typeface="Inter"/>
              </a:rPr>
              <a:t>● 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Informele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kennismaking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: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een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kop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koffie</a:t>
            </a:r>
            <a:endParaRPr sz="135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2FA766"/>
                </a:solidFill>
                <a:latin typeface="Inter"/>
              </a:rPr>
              <a:t>● 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Niet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over het dossier,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wél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over de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onderneming</a:t>
            </a:r>
            <a:endParaRPr sz="135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2FA766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Legal MRI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vooraf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lang="nl-NL" sz="1350" b="0" dirty="0">
                <a:solidFill>
                  <a:srgbClr val="1F2937"/>
                </a:solidFill>
                <a:latin typeface="Inter"/>
              </a:rPr>
              <a:t>pitchen en laten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invullen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(± 10 min)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2FA766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Rapport met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inzichten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als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gespreksbasis</a:t>
            </a:r>
            <a:endParaRPr sz="1350" b="0" dirty="0">
              <a:solidFill>
                <a:srgbClr val="1F2937"/>
              </a:solidFill>
              <a:latin typeface="Inte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040880" y="2468880"/>
            <a:ext cx="4526280" cy="292608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724912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FA766"/>
                </a:solidFill>
                <a:latin typeface="Inter"/>
              </a:rPr>
              <a:t>KERNWOORDEN UIT DE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03580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De taal die onze waarden laat zien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493008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FA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Onderneming achter het dossier</a:t>
            </a:r>
          </a:p>
        </p:txBody>
      </p:sp>
      <p:sp>
        <p:nvSpPr>
          <p:cNvPr id="18" name="Oval 17"/>
          <p:cNvSpPr/>
          <p:nvPr/>
        </p:nvSpPr>
        <p:spPr>
          <a:xfrm>
            <a:off x="7516368" y="3630168"/>
            <a:ext cx="146304" cy="146304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3968496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FA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968496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Kop koffie</a:t>
            </a:r>
          </a:p>
        </p:txBody>
      </p:sp>
      <p:sp>
        <p:nvSpPr>
          <p:cNvPr id="21" name="Oval 20"/>
          <p:cNvSpPr/>
          <p:nvPr/>
        </p:nvSpPr>
        <p:spPr>
          <a:xfrm>
            <a:off x="7516368" y="4105656"/>
            <a:ext cx="146304" cy="146304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0920" y="4443984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FA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44398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Inzicht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4581144"/>
            <a:ext cx="146304" cy="146304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4919472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FA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491947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FA766"/>
                </a:solidFill>
                <a:latin typeface="Inter"/>
              </a:rPr>
              <a:t>Kennismaken</a:t>
            </a:r>
          </a:p>
        </p:txBody>
      </p:sp>
      <p:sp>
        <p:nvSpPr>
          <p:cNvPr id="27" name="Oval 26"/>
          <p:cNvSpPr/>
          <p:nvPr/>
        </p:nvSpPr>
        <p:spPr>
          <a:xfrm>
            <a:off x="7516368" y="5056632"/>
            <a:ext cx="146304" cy="146304"/>
          </a:xfrm>
          <a:prstGeom prst="ellipse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name="adj" fmla="val 18000"/>
            </a:avLst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Inter"/>
              </a:rPr>
              <a:t>Gewenst resultaat:  </a:t>
            </a:r>
            <a:r>
              <a:rPr sz="1300" b="0">
                <a:solidFill>
                  <a:srgbClr val="FFFFFF"/>
                </a:solidFill>
                <a:latin typeface="Inter"/>
              </a:rPr>
              <a:t>“VDT begrijpt mijn onderneming en heeft oprechte interesse.”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669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4244"/>
                </a:solidFill>
                <a:latin typeface="Inter"/>
              </a:rPr>
              <a:t>FASE 3  ·  ± 30 DAGEN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877824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42A33"/>
                </a:solidFill>
                <a:latin typeface="Inter"/>
              </a:rPr>
              <a:t>Proactief waarde toevoegen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572768"/>
            <a:ext cx="9601200" cy="566928"/>
          </a:xfrm>
          <a:prstGeom prst="roundRect">
            <a:avLst>
              <a:gd name="adj" fmla="val 20000"/>
            </a:avLst>
          </a:prstGeom>
          <a:solidFill>
            <a:srgbClr val="FD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572768"/>
            <a:ext cx="9235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244"/>
                </a:solidFill>
                <a:latin typeface="Inter"/>
              </a:rPr>
              <a:t>Doel:  </a:t>
            </a:r>
            <a:r>
              <a:rPr sz="1300" b="0">
                <a:solidFill>
                  <a:srgbClr val="1F2937"/>
                </a:solidFill>
                <a:latin typeface="Inter"/>
              </a:rPr>
              <a:t>Waarde leveren zónder directe tegenprestatie. Eerst helpen, dan adviseren.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61264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4244"/>
                </a:solidFill>
                <a:latin typeface="Inter"/>
              </a:rPr>
              <a:t>WAT DOEN 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F4C200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Een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praktisch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hulpmiddel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of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praktijkgids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delen</a:t>
            </a:r>
            <a:r>
              <a:rPr lang="nl-NL" sz="1350" b="0" dirty="0">
                <a:solidFill>
                  <a:srgbClr val="1F2937"/>
                </a:solidFill>
                <a:latin typeface="Inter"/>
              </a:rPr>
              <a:t> – passend bij het bedrijf</a:t>
            </a:r>
            <a:endParaRPr sz="135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F4C200"/>
                </a:solidFill>
                <a:latin typeface="Inter"/>
              </a:rPr>
              <a:t>● 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Bruikbaar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toepasbaar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—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geen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vaktaal</a:t>
            </a:r>
            <a:endParaRPr sz="135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F4C200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Geen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nieuwsbrief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,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geen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verplichting</a:t>
            </a:r>
            <a:endParaRPr sz="1350" b="0" dirty="0">
              <a:solidFill>
                <a:srgbClr val="1F2937"/>
              </a:solidFill>
              <a:latin typeface="Inter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F4C200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“Hier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kan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ik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direct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iets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mee.”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68880"/>
            <a:ext cx="4526280" cy="2926080"/>
          </a:xfrm>
          <a:prstGeom prst="roundRect">
            <a:avLst>
              <a:gd name="adj" fmla="val 5000"/>
            </a:avLst>
          </a:prstGeom>
          <a:solidFill>
            <a:srgbClr val="FD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724912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4244"/>
                </a:solidFill>
                <a:latin typeface="Inter"/>
              </a:rPr>
              <a:t>KERNWOORDEN UIT DE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03580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De taal die onze waarden laat zien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493008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F4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Waardevol</a:t>
            </a:r>
          </a:p>
        </p:txBody>
      </p:sp>
      <p:sp>
        <p:nvSpPr>
          <p:cNvPr id="18" name="Oval 17"/>
          <p:cNvSpPr/>
          <p:nvPr/>
        </p:nvSpPr>
        <p:spPr>
          <a:xfrm>
            <a:off x="7516368" y="3630168"/>
            <a:ext cx="146304" cy="146304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3968496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F4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968496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Praktisch hulpmiddel</a:t>
            </a:r>
          </a:p>
        </p:txBody>
      </p:sp>
      <p:sp>
        <p:nvSpPr>
          <p:cNvPr id="21" name="Oval 20"/>
          <p:cNvSpPr/>
          <p:nvPr/>
        </p:nvSpPr>
        <p:spPr>
          <a:xfrm>
            <a:off x="7516368" y="4105656"/>
            <a:ext cx="146304" cy="146304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0920" y="4443984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F4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44398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Geen verplichting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4581144"/>
            <a:ext cx="146304" cy="146304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4919472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F4C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491947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Geen verkooppraatje</a:t>
            </a:r>
          </a:p>
        </p:txBody>
      </p:sp>
      <p:sp>
        <p:nvSpPr>
          <p:cNvPr id="27" name="Oval 26"/>
          <p:cNvSpPr/>
          <p:nvPr/>
        </p:nvSpPr>
        <p:spPr>
          <a:xfrm>
            <a:off x="7516368" y="5056632"/>
            <a:ext cx="146304" cy="146304"/>
          </a:xfrm>
          <a:prstGeom prst="ellipse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name="adj" fmla="val 18000"/>
            </a:avLst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244"/>
                </a:solidFill>
                <a:latin typeface="Inter"/>
              </a:rPr>
              <a:t>Gewenst resultaat:  </a:t>
            </a:r>
            <a:r>
              <a:rPr sz="1300" b="0">
                <a:solidFill>
                  <a:srgbClr val="004244"/>
                </a:solidFill>
                <a:latin typeface="Inter"/>
              </a:rPr>
              <a:t>VDT helpt ook als er géén juridisch vraagstuk speelt.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669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E74049"/>
                </a:solidFill>
                <a:latin typeface="Inter"/>
              </a:rPr>
              <a:t>FASE 4  ·  ± 90 DAGEN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877824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42A33"/>
                </a:solidFill>
                <a:latin typeface="Inter"/>
              </a:rPr>
              <a:t>90 dagen Check-in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572768"/>
            <a:ext cx="9601200" cy="566928"/>
          </a:xfrm>
          <a:prstGeom prst="roundRect">
            <a:avLst>
              <a:gd name="adj" fmla="val 20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572768"/>
            <a:ext cx="9235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E74049"/>
                </a:solidFill>
                <a:latin typeface="Inter"/>
              </a:rPr>
              <a:t>Doel:  </a:t>
            </a:r>
            <a:r>
              <a:rPr sz="1300" b="0">
                <a:solidFill>
                  <a:srgbClr val="1F2937"/>
                </a:solidFill>
                <a:latin typeface="Inter"/>
              </a:rPr>
              <a:t>Luisteren en de relatie verdiepen. Niet evalueren, niet verkopen.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61264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E74049"/>
                </a:solidFill>
                <a:latin typeface="Inter"/>
              </a:rPr>
              <a:t>WAT DOEN 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E74049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Kort,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laagdrempelig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telefoontje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(5–10 min)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E74049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Hoe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ervaar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je de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samenwerking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E74049"/>
                </a:solidFill>
                <a:latin typeface="Inter"/>
              </a:rPr>
              <a:t>●  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Wat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kunnen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we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beter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doen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dirty="0">
                <a:solidFill>
                  <a:srgbClr val="E74049"/>
                </a:solidFill>
                <a:latin typeface="Inter"/>
              </a:rPr>
              <a:t>● 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Ontwikkelingen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&amp;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inzichten</a:t>
            </a:r>
            <a:r>
              <a:rPr sz="1350" b="0" dirty="0">
                <a:solidFill>
                  <a:srgbClr val="1F2937"/>
                </a:solidFill>
                <a:latin typeface="Inter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Inter"/>
              </a:rPr>
              <a:t>vastleggen</a:t>
            </a:r>
            <a:endParaRPr sz="1350" b="0" dirty="0">
              <a:solidFill>
                <a:srgbClr val="1F2937"/>
              </a:solidFill>
              <a:latin typeface="Inte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040880" y="2468880"/>
            <a:ext cx="4526280" cy="2926080"/>
          </a:xfrm>
          <a:prstGeom prst="roundRect">
            <a:avLst>
              <a:gd name="adj" fmla="val 5000"/>
            </a:avLst>
          </a:prstGeom>
          <a:solidFill>
            <a:srgbClr val="F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724912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E74049"/>
                </a:solidFill>
                <a:latin typeface="Inter"/>
              </a:rPr>
              <a:t>KERNWOORDEN UIT DE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03580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De taal die onze waarden laat zien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493008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7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49300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E74049"/>
                </a:solidFill>
                <a:latin typeface="Inter"/>
              </a:rPr>
              <a:t>Hoe ervaar je de samenwerking?</a:t>
            </a:r>
          </a:p>
        </p:txBody>
      </p:sp>
      <p:sp>
        <p:nvSpPr>
          <p:cNvPr id="18" name="Oval 17"/>
          <p:cNvSpPr/>
          <p:nvPr/>
        </p:nvSpPr>
        <p:spPr>
          <a:xfrm>
            <a:off x="7516368" y="3630168"/>
            <a:ext cx="146304" cy="146304"/>
          </a:xfrm>
          <a:prstGeom prst="ellipse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3968496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7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968496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E74049"/>
                </a:solidFill>
                <a:latin typeface="Inter"/>
              </a:rPr>
              <a:t>Wat kunnen we beter doen?</a:t>
            </a:r>
          </a:p>
        </p:txBody>
      </p:sp>
      <p:sp>
        <p:nvSpPr>
          <p:cNvPr id="21" name="Oval 20"/>
          <p:cNvSpPr/>
          <p:nvPr/>
        </p:nvSpPr>
        <p:spPr>
          <a:xfrm>
            <a:off x="7516368" y="4105656"/>
            <a:ext cx="146304" cy="146304"/>
          </a:xfrm>
          <a:prstGeom prst="ellipse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0920" y="4443984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74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44398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E74049"/>
                </a:solidFill>
                <a:latin typeface="Inter"/>
              </a:rPr>
              <a:t>Geen verkoopgesprek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4581144"/>
            <a:ext cx="146304" cy="146304"/>
          </a:xfrm>
          <a:prstGeom prst="ellipse">
            <a:avLst/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name="adj" fmla="val 18000"/>
            </a:avLst>
          </a:prstGeom>
          <a:solidFill>
            <a:srgbClr val="E7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Inter"/>
              </a:rPr>
              <a:t>Gewenst resultaat:  </a:t>
            </a:r>
            <a:r>
              <a:rPr sz="1300" b="0">
                <a:solidFill>
                  <a:srgbClr val="FFFFFF"/>
                </a:solidFill>
                <a:latin typeface="Inter"/>
              </a:rPr>
              <a:t>De ondernemer ervaart betrokkenheid en oprechte interesse.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669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4244"/>
                </a:solidFill>
                <a:latin typeface="Inter"/>
              </a:rPr>
              <a:t>FASE 5  ·  ± 12 MAANDEN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877824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142A33"/>
                </a:solidFill>
                <a:latin typeface="Inter"/>
              </a:rPr>
              <a:t>Onderneem Mee Gesprek (OMG)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572768"/>
            <a:ext cx="9601200" cy="566928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572768"/>
            <a:ext cx="9235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244"/>
                </a:solidFill>
                <a:latin typeface="Inter"/>
              </a:rPr>
              <a:t>Doel:  </a:t>
            </a:r>
            <a:r>
              <a:rPr sz="1300" b="0">
                <a:solidFill>
                  <a:srgbClr val="1F2937"/>
                </a:solidFill>
                <a:latin typeface="Inter"/>
              </a:rPr>
              <a:t>Het hoogtepunt: vooruitkijken naar de onderneming, niet het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61264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4244"/>
                </a:solidFill>
                <a:latin typeface="Inter"/>
              </a:rPr>
              <a:t>WAT DOEN 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4244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Goed gesprek over ondernemerschap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4244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Onderneming · mensen · structuur · business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4244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Legal MRI als voorbereiding en verdieping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004244"/>
                </a:solidFill>
                <a:latin typeface="Inter"/>
              </a:rPr>
              <a:t>●  </a:t>
            </a:r>
            <a:r>
              <a:rPr sz="1350" b="0">
                <a:solidFill>
                  <a:srgbClr val="1F2937"/>
                </a:solidFill>
                <a:latin typeface="Inter"/>
              </a:rPr>
              <a:t>Sparren en meedenken — geen verkooppresentatie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68880"/>
            <a:ext cx="4526280" cy="2926080"/>
          </a:xfrm>
          <a:prstGeom prst="roundRect">
            <a:avLst>
              <a:gd name="adj" fmla="val 5000"/>
            </a:avLst>
          </a:prstGeom>
          <a:solidFill>
            <a:srgbClr val="E6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724912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4244"/>
                </a:solidFill>
                <a:latin typeface="Inter"/>
              </a:rPr>
              <a:t>KERNWOORDEN UIT DE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03580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25C6B"/>
                </a:solidFill>
                <a:latin typeface="Inter"/>
              </a:rPr>
              <a:t>De taal die onze waarden laat zien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227832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4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22783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Onderneem Mee Gesprek</a:t>
            </a:r>
          </a:p>
        </p:txBody>
      </p:sp>
      <p:sp>
        <p:nvSpPr>
          <p:cNvPr id="18" name="Oval 17"/>
          <p:cNvSpPr/>
          <p:nvPr/>
        </p:nvSpPr>
        <p:spPr>
          <a:xfrm>
            <a:off x="7516368" y="3364992"/>
            <a:ext cx="146304" cy="1463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3703320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4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3703320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Toekomst</a:t>
            </a:r>
          </a:p>
        </p:txBody>
      </p:sp>
      <p:sp>
        <p:nvSpPr>
          <p:cNvPr id="21" name="Oval 20"/>
          <p:cNvSpPr/>
          <p:nvPr/>
        </p:nvSpPr>
        <p:spPr>
          <a:xfrm>
            <a:off x="7516368" y="3840480"/>
            <a:ext cx="146304" cy="1463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0920" y="4178808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4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17880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Kansen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4315968"/>
            <a:ext cx="146304" cy="1463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4654296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4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4654296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Uitdagingen</a:t>
            </a:r>
          </a:p>
        </p:txBody>
      </p:sp>
      <p:sp>
        <p:nvSpPr>
          <p:cNvPr id="27" name="Oval 26"/>
          <p:cNvSpPr/>
          <p:nvPr/>
        </p:nvSpPr>
        <p:spPr>
          <a:xfrm>
            <a:off x="7516368" y="4791456"/>
            <a:ext cx="146304" cy="1463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60920" y="5129784"/>
            <a:ext cx="38862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4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5129784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4244"/>
                </a:solidFill>
                <a:latin typeface="Inter"/>
              </a:rPr>
              <a:t>Meedenken</a:t>
            </a:r>
          </a:p>
        </p:txBody>
      </p:sp>
      <p:sp>
        <p:nvSpPr>
          <p:cNvPr id="30" name="Oval 29"/>
          <p:cNvSpPr/>
          <p:nvPr/>
        </p:nvSpPr>
        <p:spPr>
          <a:xfrm>
            <a:off x="7516368" y="5266944"/>
            <a:ext cx="146304" cy="146304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name="adj" fmla="val 18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Inter"/>
              </a:rPr>
              <a:t>Gewenst resultaat:  </a:t>
            </a:r>
            <a:r>
              <a:rPr sz="1300" b="0">
                <a:solidFill>
                  <a:srgbClr val="FFFFFF"/>
                </a:solidFill>
                <a:latin typeface="Inter"/>
              </a:rPr>
              <a:t>“VDT denkt mee als ondernemer en is een sparringpartner.”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25C6B"/>
                </a:solidFill>
                <a:latin typeface="Inter"/>
              </a:rPr>
              <a:t>VDT Klantreis  ·  Van Dossier naar Ondernemerschap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55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525C6B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07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051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C200"/>
                </a:solidFill>
                <a:latin typeface="Inter"/>
              </a:rPr>
              <a:t>WANNEER IS DEZE KLANTREIS GESLAAGD?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0" b="1">
                <a:solidFill>
                  <a:srgbClr val="2FA766"/>
                </a:solidFill>
                <a:latin typeface="Inter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31720"/>
            <a:ext cx="877824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Inter"/>
              </a:rPr>
              <a:t>VDT kent niet alleen mijn juridische dossiers,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3000" b="1">
                <a:solidFill>
                  <a:srgbClr val="2FA766"/>
                </a:solidFill>
                <a:latin typeface="Inter"/>
              </a:rPr>
              <a:t>maar begrijpt óók mijn onderneming.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4526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ECBCB"/>
                </a:solidFill>
                <a:latin typeface="Inter"/>
              </a:rPr>
              <a:t>— de ondernemer die wij voor ogen hebben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5212080"/>
            <a:ext cx="7680960" cy="822960"/>
          </a:xfrm>
          <a:prstGeom prst="roundRect">
            <a:avLst>
              <a:gd name="adj" fmla="val 20000"/>
            </a:avLst>
          </a:prstGeom>
          <a:solidFill>
            <a:srgbClr val="004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521208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4C200"/>
                </a:solidFill>
                <a:latin typeface="Inter"/>
              </a:rPr>
              <a:t>Dán is deze klantreis geslaagd.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1611</Words>
  <Application>Microsoft Office PowerPoint</Application>
  <PresentationFormat>Breedbeeld</PresentationFormat>
  <Paragraphs>318</Paragraphs>
  <Slides>18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2" baseType="lpstr">
      <vt:lpstr>Arial</vt:lpstr>
      <vt:lpstr>Calibri</vt:lpstr>
      <vt:lpstr>Inter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Toby Brokken</dc:creator>
  <cp:keywords/>
  <dc:description>generated using python-pptx</dc:description>
  <cp:lastModifiedBy>Toby Brokken</cp:lastModifiedBy>
  <cp:revision>2</cp:revision>
  <dcterms:created xsi:type="dcterms:W3CDTF">2013-01-27T09:14:16Z</dcterms:created>
  <dcterms:modified xsi:type="dcterms:W3CDTF">2026-06-09T20:40:01Z</dcterms:modified>
  <cp:category/>
</cp:coreProperties>
</file>