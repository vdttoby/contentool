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0" y="5120640"/>
            <a:ext cx="2011680" cy="2011680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F4C200"/>
                </a:solidFill>
                <a:latin typeface="Inter"/>
              </a:rPr>
              <a:t>VDT ADVOCATEN  ·  KLANTTEAM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841248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5200" b="1">
                <a:solidFill>
                  <a:srgbClr val="FFFFFF"/>
                </a:solidFill>
                <a:latin typeface="Inter"/>
              </a:rPr>
              <a:t>De VDT Klantreis</a:t>
            </a:r>
          </a:p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3400" b="1">
                <a:solidFill>
                  <a:srgbClr val="CFE6E6"/>
                </a:solidFill>
                <a:latin typeface="Inter"/>
              </a:rPr>
              <a:t>Van dossier naar </a:t>
            </a:r>
            <a:r>
              <a:rPr sz="3400" b="1">
                <a:solidFill>
                  <a:srgbClr val="2FA766"/>
                </a:solidFill>
                <a:latin typeface="Inter"/>
              </a:rPr>
              <a:t>ondernemerschap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60520"/>
            <a:ext cx="2011680" cy="54864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D7E4E4"/>
                </a:solidFill>
                <a:latin typeface="Inter"/>
              </a:rPr>
              <a:t>Wij bouwen geen verzameling losse contactmomenten,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D7E4E4"/>
                </a:solidFill>
                <a:latin typeface="Inter"/>
              </a:rPr>
              <a:t>maar een structureel systeem dat ondernemers beter leert kennen.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9FC4C4"/>
                </a:solidFill>
                <a:latin typeface="Inter"/>
              </a:rPr>
              <a:t>Voor: klantteam · directie · betrokken advocaten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WAARVOOR WE HIER ZITTEN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Het doel van deze presentatie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In de komende minuten nemen we je mee in de nieuwe klantreis: de gedachte erachter, de rolverdeling, de workflow in BaseNet en wat dit betekent voor onze klanten.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3794760"/>
            <a:ext cx="603504" cy="6035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De gedachte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Waarom we dit doen en waar we naartoe bouwen.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9856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19856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66744" y="3794760"/>
            <a:ext cx="603504" cy="6035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6744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De fases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Vijf stappen die op elkaar voortbouwen.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3794760"/>
            <a:ext cx="603504" cy="6035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De rolverdeling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Wie doet wat — en wie is waarvan eigenaar.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9408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9408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26296" y="3794760"/>
            <a:ext cx="603504" cy="6035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6296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Het systeem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Hoe we dit borgen in BaseNet.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852160"/>
            <a:ext cx="1010412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843016"/>
            <a:ext cx="1010412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Praktisch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96796" y="5852160"/>
            <a:ext cx="1202436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96796" y="5843016"/>
            <a:ext cx="120243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Ondernemend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45536" y="585216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45536" y="5843016"/>
            <a:ext cx="1298448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Klantgericht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90288" y="5852160"/>
            <a:ext cx="1202436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0288" y="5843016"/>
            <a:ext cx="120243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Geen jargon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39028" y="5852160"/>
            <a:ext cx="2066544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39028" y="5843016"/>
            <a:ext cx="2066544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Klantwaarde centraal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280160"/>
            <a:ext cx="4572000" cy="457200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3840480"/>
            <a:ext cx="3291840" cy="3291840"/>
          </a:xfrm>
          <a:prstGeom prst="ellipse">
            <a:avLst/>
          </a:prstGeom>
          <a:solidFill>
            <a:srgbClr val="00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777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F4C200"/>
                </a:solidFill>
                <a:latin typeface="Inter"/>
              </a:rPr>
              <a:t>DE KERNBOODSCHAP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96926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Het doel is niet meer verkopen.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Inter"/>
              </a:rPr>
              <a:t>Het doel is om VDT zó prettig, toegankelijk en waardevol te maken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Inter"/>
              </a:rPr>
              <a:t>om mee samen te werken, dat klanten </a:t>
            </a:r>
            <a:r>
              <a:rPr sz="2400" b="1">
                <a:solidFill>
                  <a:srgbClr val="F4C200"/>
                </a:solidFill>
                <a:latin typeface="Inter"/>
              </a:rPr>
              <a:t>vanzelf</a:t>
            </a:r>
            <a:r>
              <a:rPr sz="2400" b="1">
                <a:solidFill>
                  <a:srgbClr val="FFFFFF"/>
                </a:solidFill>
                <a:latin typeface="Inter"/>
              </a:rPr>
              <a:t> meer willen afnemen.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29768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006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498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4C200"/>
                </a:solidFill>
                <a:latin typeface="Inter"/>
              </a:rPr>
              <a:t>NIET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864608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FFFFFF"/>
                </a:solidFill>
                <a:latin typeface="Inter"/>
              </a:rPr>
              <a:t>Een verzameling losse contactmomenten.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29768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498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Inter"/>
              </a:rPr>
              <a:t>WÉL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864608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Eén structureel systeem dat ondernemers beter leert kennen, beter helpt en op het juiste moment meedenkt.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WAAROM DEZE KLANTREIS?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Van dossierrelatie naar ondernemersrelatie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5074920" cy="3154680"/>
          </a:xfrm>
          <a:prstGeom prst="roundRect">
            <a:avLst>
              <a:gd name="adj" fmla="val 5000"/>
            </a:avLst>
          </a:prstGeom>
          <a:solidFill>
            <a:srgbClr val="F4F6F7"/>
          </a:solidFill>
          <a:ln w="12700">
            <a:solidFill>
              <a:srgbClr val="E2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37744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525C6B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41448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42A33"/>
                </a:solidFill>
                <a:latin typeface="Inter"/>
              </a:rPr>
              <a:t>De dossierrelatie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525C6B"/>
                </a:solidFill>
                <a:latin typeface="Inter"/>
              </a:rPr>
              <a:t>Hoe het vaak gaat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429000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Contact alleen als er een probleem speelt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Draait om dossiers en losse werkzaamheden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Reactief: wachten tot de klant belt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We kennen het dossier, niet de onderneming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2057400"/>
            <a:ext cx="5074920" cy="31546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2" y="2057400"/>
            <a:ext cx="128016" cy="315468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93992" y="237744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93992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2441448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2FA766"/>
                </a:solidFill>
                <a:latin typeface="Inter"/>
              </a:rPr>
              <a:t>De ondernemersrelatie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2843784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7A55"/>
                </a:solidFill>
                <a:latin typeface="Inter"/>
              </a:rPr>
              <a:t>Waar VDT naartoe bouwt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429000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Contact vóórdat er een probleem ontstaat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Draait om de ondernemer én de onderneming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Proactief: wij denken mee en kijken vooruit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We begrijpen de onderneming achter het dossier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00" b="0">
                <a:solidFill>
                  <a:srgbClr val="1F2937"/>
                </a:solidFill>
                <a:latin typeface="Inter"/>
              </a:rPr>
              <a:t>Cross-selling is geen doel op zich — het is het </a:t>
            </a:r>
            <a:r>
              <a:rPr sz="1400" b="1">
                <a:solidFill>
                  <a:srgbClr val="007F81"/>
                </a:solidFill>
                <a:latin typeface="Inter"/>
              </a:rPr>
              <a:t>logische gevolg</a:t>
            </a:r>
            <a:r>
              <a:rPr sz="1400" b="0">
                <a:solidFill>
                  <a:srgbClr val="1F2937"/>
                </a:solidFill>
                <a:latin typeface="Inter"/>
              </a:rPr>
              <a:t> van relevantie, vertrouwen en klantwaarde.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DE GEDACHTE ERACHTER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filosofie: vijf principes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1832" y="2404872"/>
            <a:ext cx="530352" cy="530352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4048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414016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leren de ondernemer kennen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12724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Niet alleen het dossier — de mens achter de vraag.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103120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34256" y="2103120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36008" y="2404872"/>
            <a:ext cx="530352" cy="530352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24048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2414016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leren de onderneming kennen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312724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Wat speelt er? Waar liggen uitdagingen en ambities?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2" y="2103120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28432" y="2103120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0184" y="2404872"/>
            <a:ext cx="530352" cy="530352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24048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414016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voegen eerst waarde toe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12724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Eerst helpen, dan adviseren. Nooit andersom.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87168" y="4087368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87168" y="4087368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88920" y="4389120"/>
            <a:ext cx="530352" cy="530352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38912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7288" y="4398264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luisteren actief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71216" y="5111496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Niet wachten op feedback — zelf contact opnemen.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1344" y="4087368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81344" y="4087368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83096" y="4389120"/>
            <a:ext cx="530352" cy="530352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83096" y="438912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41464" y="4398264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kijken vooruit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5111496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Niet alleen vandaag, maar de onderneming van morgen.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HET OVERZICHT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vijf fases van de klantreis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154680"/>
            <a:ext cx="10469880" cy="54864"/>
          </a:xfrm>
          <a:prstGeom prst="rect">
            <a:avLst/>
          </a:prstGeom>
          <a:solidFill>
            <a:srgbClr val="E2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880360"/>
            <a:ext cx="603504" cy="6035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2971800"/>
            <a:ext cx="27432" cy="18288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" y="173736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" y="173736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" y="188366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Welkom &amp; Onboarding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" y="245059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007F81"/>
                </a:solidFill>
                <a:latin typeface="Inter"/>
              </a:rPr>
              <a:t>Direct na klantwording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" y="268833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Warme, persoonlijke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3367278" y="2880360"/>
            <a:ext cx="603504" cy="6035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727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9886" y="3483864"/>
            <a:ext cx="27432" cy="18288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31770" y="365760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31770" y="365760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3210" y="380390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Kennismaking &amp; Legal MRI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3210" y="437083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2FA766"/>
                </a:solidFill>
                <a:latin typeface="Inter"/>
              </a:rPr>
              <a:t>± 14 dagen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3210" y="460857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Onderneming leren kennen</a:t>
            </a:r>
          </a:p>
        </p:txBody>
      </p:sp>
      <p:sp>
        <p:nvSpPr>
          <p:cNvPr id="26" name="Oval 25"/>
          <p:cNvSpPr/>
          <p:nvPr/>
        </p:nvSpPr>
        <p:spPr>
          <a:xfrm>
            <a:off x="5801868" y="2880360"/>
            <a:ext cx="603504" cy="6035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186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971800"/>
            <a:ext cx="27432" cy="182880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166360" y="173736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FD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66360" y="173736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188366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Proactief waarde toevoegen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245059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004244"/>
                </a:solidFill>
                <a:latin typeface="Inter"/>
              </a:rPr>
              <a:t>± 30 dagen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68833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Helpen zonder tegenprestatie</a:t>
            </a:r>
          </a:p>
        </p:txBody>
      </p:sp>
      <p:sp>
        <p:nvSpPr>
          <p:cNvPr id="34" name="Oval 33"/>
          <p:cNvSpPr/>
          <p:nvPr/>
        </p:nvSpPr>
        <p:spPr>
          <a:xfrm>
            <a:off x="8236458" y="2880360"/>
            <a:ext cx="603504" cy="6035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3645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29066" y="3483864"/>
            <a:ext cx="27432" cy="182880"/>
          </a:xfrm>
          <a:prstGeom prst="rect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00950" y="365760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00950" y="365760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92390" y="380390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90 dagen Check-in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92390" y="437083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E74049"/>
                </a:solidFill>
                <a:latin typeface="Inter"/>
              </a:rPr>
              <a:t>± 90 dagen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2390" y="460857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Luisteren en verdiepen</a:t>
            </a:r>
          </a:p>
        </p:txBody>
      </p:sp>
      <p:sp>
        <p:nvSpPr>
          <p:cNvPr id="42" name="Oval 41"/>
          <p:cNvSpPr/>
          <p:nvPr/>
        </p:nvSpPr>
        <p:spPr>
          <a:xfrm>
            <a:off x="10671048" y="2880360"/>
            <a:ext cx="603504" cy="6035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104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63656" y="2971800"/>
            <a:ext cx="27432" cy="18288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035540" y="173736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035540" y="173736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26980" y="188366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Onderneem Mee Gesprek (OMG)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26980" y="245059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004244"/>
                </a:solidFill>
                <a:latin typeface="Inter"/>
              </a:rPr>
              <a:t>± 12 maanden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26980" y="268833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Vooruitkijken samen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00" b="0">
                <a:solidFill>
                  <a:srgbClr val="1F2937"/>
                </a:solidFill>
                <a:latin typeface="Inter"/>
              </a:rPr>
              <a:t>Elke stap bouwt voort op de vorige: </a:t>
            </a:r>
            <a:r>
              <a:rPr sz="1400" b="1">
                <a:solidFill>
                  <a:srgbClr val="007F81"/>
                </a:solidFill>
                <a:latin typeface="Inter"/>
              </a:rPr>
              <a:t>Welkom → Kennismaken → Waarde toevoegen → Luisteren → Vooruitkijken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7F81"/>
                </a:solidFill>
                <a:latin typeface="Inter"/>
              </a:rPr>
              <a:t>FASE 1  ·  DIRECT NA KLANTWORDING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Welkom &amp; Onboarding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7F81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Een warme, persoonlijke en laagdrempelige start van de samenwerking.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7F81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Persoonlijke welkomstmail vanuit het klantteam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Klant aanmaken &amp; gegevens verrijken (kort formulier)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Laten zien: een héél team staat klaar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Direct duidelijk: de lijnen staan altijd open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7F81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Samen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Sparren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Meedenken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Lijnen altijd open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De ondernemer voelt zich welkom, gezien en serieus genomen.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A766"/>
                </a:solidFill>
                <a:latin typeface="Inter"/>
              </a:rPr>
              <a:t>FASE 2  ·  ± 14 DAGEN NA KLANTWORDING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Kennismaking &amp; Legal MRI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2FA766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De onderneming achter het dossier leren kennen — niet om iets te verkopen.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A766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Informele kennismaking: een kop koffie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Niet over het dossier, wél over de onderneming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Legal MRI vooraf invullen (± 10 min)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Rapport met inzichten als gespreksbasis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A766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Onderneming achter het dossier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Kop koffie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Inzicht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Kennismaken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“VDT begrijpt mijn onderneming en heeft oprechte interesse.”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FASE 3  ·  ± 30 DAGEN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Proactief waarde toevoegen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FD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244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Waarde leveren zónder directe tegenprestatie. Eerst helpen, dan adviseren.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Een praktisch hulpmiddel of praktijkgids delen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Bruikbaar en toepasbaar — geen vaktaal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Geen nieuwsbrief, geen verplichting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“Hier kan ik direct iets mee.”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FD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Waardevol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Praktisch hulpmiddel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Geen verplichting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Geen verkooppraatje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244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004244"/>
                </a:solidFill>
                <a:latin typeface="Inter"/>
              </a:rPr>
              <a:t>VDT helpt ook als er géén juridisch vraagstuk speelt.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FASE 4  ·  ± 90 DAGEN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90 dagen Check-in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74049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Luisteren en de relatie verdiepen. Niet evalueren, niet verkopen.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Kort, laagdrempelig telefoontje (5–10 min)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Hoe ervaar je de samenwerking?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Wat kunnen we beter doen?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Ontwikkelingen &amp; inzichten vastleggen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7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E74049"/>
                </a:solidFill>
                <a:latin typeface="Inter"/>
              </a:rPr>
              <a:t>Hoe ervaar je de samenwerking?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7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E74049"/>
                </a:solidFill>
                <a:latin typeface="Inter"/>
              </a:rPr>
              <a:t>Wat kunnen we beter doen?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7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E74049"/>
                </a:solidFill>
                <a:latin typeface="Inter"/>
              </a:rPr>
              <a:t>Geen verkoopgesprek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De ondernemer ervaart betrokkenheid en oprechte interesse.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FASE 5  ·  ± 12 MAANDEN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Onderneem Mee Gesprek (OMG)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244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Het hoogtepunt: vooruitkijken naar de onderneming, niet het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Goed gesprek over ondernemerschap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Onderneming · mensen · structuur · business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Legal MRI als voorbereiding en verdieping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Sparren en meedenken — geen verkooppresentatie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Onderneem Mee Gesprek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Toekomst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Kansen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Uitdagingen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0920" y="5394960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5394960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Meedenken</a:t>
            </a:r>
          </a:p>
        </p:txBody>
      </p:sp>
      <p:sp>
        <p:nvSpPr>
          <p:cNvPr id="30" name="Oval 29"/>
          <p:cNvSpPr/>
          <p:nvPr/>
        </p:nvSpPr>
        <p:spPr>
          <a:xfrm>
            <a:off x="7516368" y="5532120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“VDT denkt mee als ondernemer en is een sparringpartner.”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EÉN INGANG VOOR IEDEREEN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Iedere klant komt hetzelfde binnen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852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Iedereen krijgt dezelfde onboarding. Binnen twee weken bepalen we de strategische waarde.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2743200" cy="9144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7F81"/>
                </a:solidFill>
                <a:latin typeface="Inter"/>
              </a:rPr>
              <a:t>STAP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Gelijke onboarding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525C6B"/>
                </a:solidFill>
                <a:latin typeface="Inter"/>
              </a:rPr>
              <a:t>Welkomstmail + gegevens vastleggen</a:t>
            </a:r>
          </a:p>
        </p:txBody>
      </p:sp>
      <p:sp>
        <p:nvSpPr>
          <p:cNvPr id="15" name="Chevron 14"/>
          <p:cNvSpPr/>
          <p:nvPr/>
        </p:nvSpPr>
        <p:spPr>
          <a:xfrm>
            <a:off x="3456432" y="3246120"/>
            <a:ext cx="457200" cy="365760"/>
          </a:xfrm>
          <a:prstGeom prst="chevron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23360" y="274320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23360" y="2743200"/>
            <a:ext cx="2743200" cy="9144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29809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2FA766"/>
                </a:solidFill>
                <a:latin typeface="Inter"/>
              </a:rPr>
              <a:t>STAP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273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Toets twee criteria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525C6B"/>
                </a:solidFill>
                <a:latin typeface="Inter"/>
              </a:rPr>
              <a:t>Binnen 2 weken beoordeeld</a:t>
            </a:r>
          </a:p>
        </p:txBody>
      </p:sp>
      <p:sp>
        <p:nvSpPr>
          <p:cNvPr id="21" name="Chevron 20"/>
          <p:cNvSpPr/>
          <p:nvPr/>
        </p:nvSpPr>
        <p:spPr>
          <a:xfrm>
            <a:off x="6839712" y="3246120"/>
            <a:ext cx="457200" cy="365760"/>
          </a:xfrm>
          <a:prstGeom prst="chevron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74320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06640" y="2743200"/>
            <a:ext cx="2743200" cy="9144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29809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4244"/>
                </a:solidFill>
                <a:latin typeface="Inter"/>
              </a:rPr>
              <a:t>STAP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273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Bepaal segment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525C6B"/>
                </a:solidFill>
                <a:latin typeface="Inter"/>
              </a:rPr>
              <a:t>Strategisch of regulier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26280"/>
            <a:ext cx="512064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709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2FA766"/>
                </a:solidFill>
                <a:latin typeface="Inter"/>
              </a:rPr>
              <a:t>DE TWEE CRITERIA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509320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93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10+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93208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Meer dan 10 medewerkers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605272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6052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Inter"/>
              </a:rPr>
              <a:t>DMU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57784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DMU bekend </a:t>
            </a:r>
            <a:r>
              <a:rPr sz="1150" b="0">
                <a:solidFill>
                  <a:srgbClr val="525C6B"/>
                </a:solidFill>
                <a:latin typeface="Inter"/>
              </a:rPr>
              <a:t>(DGA / directie / beslisser)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89320" y="4526280"/>
            <a:ext cx="5577840" cy="1508760"/>
          </a:xfrm>
          <a:prstGeom prst="roundRect">
            <a:avLst>
              <a:gd name="adj" fmla="val 5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7274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D6F0E1"/>
                </a:solidFill>
                <a:latin typeface="Inter"/>
              </a:rPr>
              <a:t>BEIDE AANWEZIG?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029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  <a:latin typeface="Inter"/>
              </a:rPr>
              <a:t>→  Strategische klant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5504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150" b="0">
                <a:solidFill>
                  <a:srgbClr val="FFFFFF"/>
                </a:solidFill>
                <a:latin typeface="Inter"/>
              </a:rPr>
              <a:t>Verwachting: gemiddeld circa 5 strategische klanten per maand.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WIE DOET WAT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rolverdeling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35661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3566160" cy="777240"/>
          </a:xfrm>
          <a:prstGeom prst="roundRect">
            <a:avLst>
              <a:gd name="adj" fmla="val 5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3566160" cy="27432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037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De Secretaresse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CFE6E6"/>
                </a:solidFill>
                <a:latin typeface="Inter"/>
              </a:rPr>
              <a:t>DATA &amp; KWALITEIT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363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F81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Data-input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F81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Klant aanmaken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F81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Datakwaliteit bewaken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057400"/>
            <a:ext cx="35661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057400"/>
            <a:ext cx="3566160" cy="777240"/>
          </a:xfrm>
          <a:prstGeom prst="roundRect">
            <a:avLst>
              <a:gd name="adj" fmla="val 5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0832" y="2560320"/>
            <a:ext cx="3566160" cy="27432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2037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Het Klantteam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560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CFE6E6"/>
                </a:solidFill>
                <a:latin typeface="Inter"/>
              </a:rPr>
              <a:t>REGIE &amp; RELATIE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1363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Regie over de klantreis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Uitvoering: Legal MRI, check-ins, OMG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Relatiebeheer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4" y="2057400"/>
            <a:ext cx="35661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57400"/>
            <a:ext cx="3566160" cy="777240"/>
          </a:xfrm>
          <a:prstGeom prst="roundRect">
            <a:avLst>
              <a:gd name="adj" fmla="val 5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4" y="2560320"/>
            <a:ext cx="3566160" cy="27432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22037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De Advocaat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2560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CFE6E6"/>
                </a:solidFill>
                <a:latin typeface="Inter"/>
              </a:rPr>
              <a:t>INHOUD &amp; DOSSIER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31363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4244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Inhoud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4244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Dossier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4244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Juridisch advies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8000"/>
            </a:avLst>
          </a:prstGeom>
          <a:solidFill>
            <a:srgbClr val="14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276088"/>
            <a:ext cx="1005840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De advocaat is eigenaar van de </a:t>
            </a:r>
            <a:r>
              <a:rPr sz="1700" b="1">
                <a:solidFill>
                  <a:srgbClr val="F4C200"/>
                </a:solidFill>
                <a:latin typeface="Inter"/>
              </a:rPr>
              <a:t>inhoud</a:t>
            </a:r>
            <a:r>
              <a:rPr sz="1700" b="1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641848"/>
            <a:ext cx="1005840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Het klantteam is eigenaar van de </a:t>
            </a:r>
            <a:r>
              <a:rPr sz="1700" b="1">
                <a:solidFill>
                  <a:srgbClr val="2FA766"/>
                </a:solidFill>
                <a:latin typeface="Inter"/>
              </a:rPr>
              <a:t>relatie</a:t>
            </a:r>
            <a:r>
              <a:rPr sz="1700" b="1">
                <a:solidFill>
                  <a:srgbClr val="FFFFFF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HET INSTRUMENT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Legal MRI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5212080" cy="27889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42316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600" b="1">
                <a:solidFill>
                  <a:srgbClr val="FFFFFF"/>
                </a:solidFill>
                <a:latin typeface="Inter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688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>
                <a:solidFill>
                  <a:srgbClr val="142A33"/>
                </a:solidFill>
                <a:latin typeface="Inter"/>
              </a:rPr>
              <a:t>Een juridische gezondheidsscan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832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Inter"/>
              </a:rPr>
              <a:t>Een soort juridische röntgenfoto van de onderneming.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Invultijd: ± 10 minuten.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Resultaat: analyse, rapport en aanbevelingen — besproken tijdens de kennismaking en het OMG.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05740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74049"/>
                </a:solidFill>
                <a:latin typeface="Inter"/>
              </a:rPr>
              <a:t>GEEN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74049"/>
                </a:solidFill>
                <a:latin typeface="Inter"/>
              </a:rPr>
              <a:t>✕  </a:t>
            </a:r>
            <a:r>
              <a:rPr sz="1300" b="0">
                <a:solidFill>
                  <a:srgbClr val="1F2937"/>
                </a:solidFill>
                <a:latin typeface="Inter"/>
              </a:rPr>
              <a:t>Verkoopinstrument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74049"/>
                </a:solidFill>
                <a:latin typeface="Inter"/>
              </a:rPr>
              <a:t>✕  </a:t>
            </a:r>
            <a:r>
              <a:rPr sz="1300" b="0">
                <a:solidFill>
                  <a:srgbClr val="1F2937"/>
                </a:solidFill>
                <a:latin typeface="Inter"/>
              </a:rPr>
              <a:t>Werk creëren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74049"/>
                </a:solidFill>
                <a:latin typeface="Inter"/>
              </a:rPr>
              <a:t>✕  </a:t>
            </a:r>
            <a:r>
              <a:rPr sz="1300" b="0">
                <a:solidFill>
                  <a:srgbClr val="1F2937"/>
                </a:solidFill>
                <a:latin typeface="Inter"/>
              </a:rPr>
              <a:t>Dossiers genereren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05740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2FA766"/>
                </a:solidFill>
                <a:latin typeface="Inter"/>
              </a:rPr>
              <a:t>WÉL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Inzicht geven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Bewustwording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Gesprek verdiepen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Prioriteiten zichtbaar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80"/>
            <a:ext cx="10927080" cy="868680"/>
          </a:xfrm>
          <a:prstGeom prst="roundRect">
            <a:avLst>
              <a:gd name="adj" fmla="val 1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212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“Handig — ik krijg inzicht in mijn onderneming.”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E3F5EA"/>
                </a:solidFill>
                <a:latin typeface="Inter"/>
              </a:rPr>
              <a:t>Dát is het gevoel dat de Legal MRI moet oproepen. Geen verkoop, wel inzicht.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HOE WE HET BORGEN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workflow in BaseNet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We weten inmiddels hoe we deze klantreis volledig kunnen inrichten in BaseNet.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Automatische taken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Het juiste moment komt vanzelf naar boven.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39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39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90671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1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5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Workflow-stappen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4095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Elke fase is een vaste stap in het systeem.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198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198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85230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0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8654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Segmentatie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8654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Strategische klanten herkend en gemarkeerd.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57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57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79789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9789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3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Herinneringen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3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Niets valt tussen wal en schip.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18316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18316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74348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74348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2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Eigenaarschap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2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Voor elke taak is duidelijk wie aan zet is.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937760"/>
            <a:ext cx="5349240" cy="1188720"/>
          </a:xfrm>
          <a:prstGeom prst="roundRect">
            <a:avLst>
              <a:gd name="adj" fmla="val 8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1206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GEEN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>
                <a:solidFill>
                  <a:srgbClr val="142A33"/>
                </a:solidFill>
                <a:latin typeface="Inter"/>
              </a:rPr>
              <a:t>Een proces dat afhankelijk is van geheugen.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937760"/>
            <a:ext cx="5349240" cy="1188720"/>
          </a:xfrm>
          <a:prstGeom prst="roundRect">
            <a:avLst>
              <a:gd name="adj" fmla="val 8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1206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4C200"/>
                </a:solidFill>
                <a:latin typeface="Inter"/>
              </a:rPr>
              <a:t>WÉL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Een systeem. Betrouwbaar, herhaalbaar en geborgd.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WAAR HET OM DRAAIT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kracht zit in het systeem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De kracht zit niet in losse activiteiten — niet in één mail, één telefoontje of één gesprek.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De kracht zit erin dat elke stap voortbouwt op de vorige.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Welkom</a:t>
            </a:r>
          </a:p>
        </p:txBody>
      </p:sp>
      <p:sp>
        <p:nvSpPr>
          <p:cNvPr id="12" name="Chevron 11"/>
          <p:cNvSpPr/>
          <p:nvPr/>
        </p:nvSpPr>
        <p:spPr>
          <a:xfrm>
            <a:off x="2670047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07791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07791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Kennismaken</a:t>
            </a:r>
          </a:p>
        </p:txBody>
      </p:sp>
      <p:sp>
        <p:nvSpPr>
          <p:cNvPr id="15" name="Chevron 14"/>
          <p:cNvSpPr/>
          <p:nvPr/>
        </p:nvSpPr>
        <p:spPr>
          <a:xfrm>
            <a:off x="4800598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38342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8342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004244"/>
                </a:solidFill>
                <a:latin typeface="Inter"/>
              </a:rPr>
              <a:t>Waarde toevoegen</a:t>
            </a:r>
          </a:p>
        </p:txBody>
      </p:sp>
      <p:sp>
        <p:nvSpPr>
          <p:cNvPr id="18" name="Chevron 17"/>
          <p:cNvSpPr/>
          <p:nvPr/>
        </p:nvSpPr>
        <p:spPr>
          <a:xfrm>
            <a:off x="6931149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68893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893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Luisteren</a:t>
            </a:r>
          </a:p>
        </p:txBody>
      </p:sp>
      <p:sp>
        <p:nvSpPr>
          <p:cNvPr id="21" name="Chevron 20"/>
          <p:cNvSpPr/>
          <p:nvPr/>
        </p:nvSpPr>
        <p:spPr>
          <a:xfrm>
            <a:off x="9061700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99444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444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Vooruitkijken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526280"/>
            <a:ext cx="106070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526280"/>
            <a:ext cx="146304" cy="141732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745736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142A33"/>
                </a:solidFill>
                <a:latin typeface="Inter"/>
              </a:rPr>
              <a:t>Het resultaat: iets wat veel advocatenkantoren niet hebben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8464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1F2937"/>
                </a:solidFill>
                <a:latin typeface="Inter"/>
              </a:rPr>
              <a:t>Een relatie die draait om de ondernemer en de onderneming — in plaats van uitsluitend om juridische dossiers. Dat is de ambitie van VDT.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371600" y="2743200"/>
            <a:ext cx="4572000" cy="457200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0515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F4C200"/>
                </a:solidFill>
                <a:latin typeface="Inter"/>
              </a:rPr>
              <a:t>WANNEER IS DEZE KLANTREIS GESLAAGD?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88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0" b="1">
                <a:solidFill>
                  <a:srgbClr val="2FA766"/>
                </a:solidFill>
                <a:latin typeface="Inter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31720"/>
            <a:ext cx="87782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VDT kent niet alleen mijn juridische dossiers,</a:t>
            </a:r>
          </a:p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3000" b="1">
                <a:solidFill>
                  <a:srgbClr val="2FA766"/>
                </a:solidFill>
                <a:latin typeface="Inter"/>
              </a:rPr>
              <a:t>maar begrijpt óók mijn onderneming.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45262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AECBCB"/>
                </a:solidFill>
                <a:latin typeface="Inter"/>
              </a:rPr>
              <a:t>— de ondernemer die wij voor ogen hebben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5212080"/>
            <a:ext cx="7680960" cy="822960"/>
          </a:xfrm>
          <a:prstGeom prst="roundRect">
            <a:avLst>
              <a:gd name="adj" fmla="val 2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5212080"/>
            <a:ext cx="7680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4C200"/>
                </a:solidFill>
                <a:latin typeface="Inter"/>
              </a:rPr>
              <a:t>Dán is deze klantreis geslaagd.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