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109728" cy="6858000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0" y="5120640"/>
            <a:ext cx="2011680" cy="2011680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F4C200"/>
                </a:solidFill>
                <a:latin typeface="Inter"/>
              </a:rPr>
              <a:t>VDT ADVOCATEN  ·  KLANTTEAM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74519"/>
            <a:ext cx="8412480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</a:pPr>
            <a:r>
              <a:rPr sz="5200" b="1">
                <a:solidFill>
                  <a:srgbClr val="FFFFFF"/>
                </a:solidFill>
                <a:latin typeface="Inter"/>
              </a:rPr>
              <a:t>De VDT Klantreis</a:t>
            </a:r>
          </a:p>
          <a:p>
            <a:pPr algn="l">
              <a:lnSpc>
                <a:spcPct val="104000"/>
              </a:lnSpc>
              <a:spcBef>
                <a:spcPts val="0"/>
              </a:spcBef>
            </a:pPr>
            <a:r>
              <a:rPr sz="3400" b="1">
                <a:solidFill>
                  <a:srgbClr val="CFE6E6"/>
                </a:solidFill>
                <a:latin typeface="Inter"/>
              </a:rPr>
              <a:t>Van dossier naar </a:t>
            </a:r>
            <a:r>
              <a:rPr sz="3400" b="1">
                <a:solidFill>
                  <a:srgbClr val="2FA766"/>
                </a:solidFill>
                <a:latin typeface="Inter"/>
              </a:rPr>
              <a:t>ondernemerschap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4160520"/>
            <a:ext cx="2011680" cy="54864"/>
          </a:xfrm>
          <a:prstGeom prst="rect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80467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D7E4E4"/>
                </a:solidFill>
                <a:latin typeface="Inter"/>
              </a:rPr>
              <a:t>Wij bouwen geen verzameling losse contactmomenten,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D7E4E4"/>
                </a:solidFill>
                <a:latin typeface="Inter"/>
              </a:rPr>
              <a:t>maar een structureel systeem dat ondernemers beter leert kennen.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9FC4C4"/>
                </a:solidFill>
                <a:latin typeface="Inter"/>
              </a:rPr>
              <a:t>Voor: klantteam · directie · betrokken advocaten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WAARVOOR WE HIER ZITTEN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Het doel van deze presentatie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500" b="0">
                <a:solidFill>
                  <a:srgbClr val="1F2937"/>
                </a:solidFill>
                <a:latin typeface="Inter"/>
              </a:rPr>
              <a:t>In de komende minuten nemen we je mee in de nieuwe klantreis: de gedachte erachter, de rolverdeling, de workflow in BaseNet en wat dit betekent voor onze klanten.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83280"/>
            <a:ext cx="2615184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383280"/>
            <a:ext cx="2615184" cy="109728"/>
          </a:xfrm>
          <a:prstGeom prst="roundRect">
            <a:avLst>
              <a:gd name="adj" fmla="val 50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6968" y="3794760"/>
            <a:ext cx="603504" cy="603504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7947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4988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550" b="1">
                <a:solidFill>
                  <a:srgbClr val="142A33"/>
                </a:solidFill>
                <a:latin typeface="Inter"/>
              </a:rPr>
              <a:t>De gedachte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864608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150" b="0">
                <a:solidFill>
                  <a:srgbClr val="525C6B"/>
                </a:solidFill>
                <a:latin typeface="Inter"/>
              </a:rPr>
              <a:t>Waarom we dit doen en waar we naartoe bouwen.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9856" y="3383280"/>
            <a:ext cx="2615184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19856" y="3383280"/>
            <a:ext cx="2615184" cy="109728"/>
          </a:xfrm>
          <a:prstGeom prst="roundRect">
            <a:avLst>
              <a:gd name="adj" fmla="val 5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66744" y="3794760"/>
            <a:ext cx="603504" cy="603504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66744" y="37947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44988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550" b="1">
                <a:solidFill>
                  <a:srgbClr val="142A33"/>
                </a:solidFill>
                <a:latin typeface="Inter"/>
              </a:rPr>
              <a:t>De fases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5888" y="4864608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150" b="0">
                <a:solidFill>
                  <a:srgbClr val="525C6B"/>
                </a:solidFill>
                <a:latin typeface="Inter"/>
              </a:rPr>
              <a:t>Vijf stappen die op elkaar voortbouwen.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3383280"/>
            <a:ext cx="2615184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99632" y="3383280"/>
            <a:ext cx="2615184" cy="109728"/>
          </a:xfrm>
          <a:prstGeom prst="roundRect">
            <a:avLst>
              <a:gd name="adj" fmla="val 50000"/>
            </a:avLst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3794760"/>
            <a:ext cx="603504" cy="603504"/>
          </a:xfrm>
          <a:prstGeom prst="ellipse">
            <a:avLst/>
          </a:prstGeom>
          <a:solidFill>
            <a:srgbClr val="F4C200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7947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44988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550" b="1">
                <a:solidFill>
                  <a:srgbClr val="142A33"/>
                </a:solidFill>
                <a:latin typeface="Inter"/>
              </a:rPr>
              <a:t>De rolverdeling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4864608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150" b="0">
                <a:solidFill>
                  <a:srgbClr val="525C6B"/>
                </a:solidFill>
                <a:latin typeface="Inter"/>
              </a:rPr>
              <a:t>Wie doet wat — en wie is waarvan eigenaar.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79408" y="3383280"/>
            <a:ext cx="2615184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79408" y="3383280"/>
            <a:ext cx="2615184" cy="109728"/>
          </a:xfrm>
          <a:prstGeom prst="roundRect">
            <a:avLst>
              <a:gd name="adj" fmla="val 50000"/>
            </a:avLst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26296" y="3794760"/>
            <a:ext cx="603504" cy="603504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26296" y="37947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44988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550" b="1">
                <a:solidFill>
                  <a:srgbClr val="142A33"/>
                </a:solidFill>
                <a:latin typeface="Inter"/>
              </a:rPr>
              <a:t>Het systeem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4864608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150" b="0">
                <a:solidFill>
                  <a:srgbClr val="525C6B"/>
                </a:solidFill>
                <a:latin typeface="Inter"/>
              </a:rPr>
              <a:t>Hoe we dit borgen in BaseNet.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852160"/>
            <a:ext cx="1010412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843016"/>
            <a:ext cx="1010412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007F81"/>
                </a:solidFill>
                <a:latin typeface="Inter"/>
              </a:rPr>
              <a:t>Praktisch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796796" y="5852160"/>
            <a:ext cx="1202436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96796" y="5843016"/>
            <a:ext cx="120243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007F81"/>
                </a:solidFill>
                <a:latin typeface="Inter"/>
              </a:rPr>
              <a:t>Ondernemend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45536" y="5852160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45536" y="5843016"/>
            <a:ext cx="1298448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007F81"/>
                </a:solidFill>
                <a:latin typeface="Inter"/>
              </a:rPr>
              <a:t>Klantgericht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90288" y="5852160"/>
            <a:ext cx="1202436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0288" y="5843016"/>
            <a:ext cx="120243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007F81"/>
                </a:solidFill>
                <a:latin typeface="Inter"/>
              </a:rPr>
              <a:t>Geen jargon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39028" y="5852160"/>
            <a:ext cx="2066544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39028" y="5843016"/>
            <a:ext cx="2066544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007F81"/>
                </a:solidFill>
                <a:latin typeface="Inter"/>
              </a:rPr>
              <a:t>Klantwaarde centraal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-1280160"/>
            <a:ext cx="4572000" cy="4572000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3840480"/>
            <a:ext cx="3291840" cy="3291840"/>
          </a:xfrm>
          <a:prstGeom prst="ellipse">
            <a:avLst/>
          </a:prstGeom>
          <a:solidFill>
            <a:srgbClr val="00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7772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F4C200"/>
                </a:solidFill>
                <a:latin typeface="Inter"/>
              </a:rPr>
              <a:t>DE KERNBOODSCHAP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969264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Inter"/>
              </a:rPr>
              <a:t>Het doel is niet meer verkopen.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400" b="1">
                <a:solidFill>
                  <a:srgbClr val="FFFFFF"/>
                </a:solidFill>
                <a:latin typeface="Inter"/>
              </a:rPr>
              <a:t>Het doel is om VDT zó prettig, toegankelijk en waardevol te maken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400" b="1">
                <a:solidFill>
                  <a:srgbClr val="FFFFFF"/>
                </a:solidFill>
                <a:latin typeface="Inter"/>
              </a:rPr>
              <a:t>om mee samen te werken, dat klanten </a:t>
            </a:r>
            <a:r>
              <a:rPr sz="2400" b="1">
                <a:solidFill>
                  <a:srgbClr val="F4C200"/>
                </a:solidFill>
                <a:latin typeface="Inter"/>
              </a:rPr>
              <a:t>vanzelf</a:t>
            </a:r>
            <a:r>
              <a:rPr sz="2400" b="1">
                <a:solidFill>
                  <a:srgbClr val="FFFFFF"/>
                </a:solidFill>
                <a:latin typeface="Inter"/>
              </a:rPr>
              <a:t> meer willen afnemen.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29768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006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498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F4C200"/>
                </a:solidFill>
                <a:latin typeface="Inter"/>
              </a:rPr>
              <a:t>NIET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864608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FFFFFF"/>
                </a:solidFill>
                <a:latin typeface="Inter"/>
              </a:rPr>
              <a:t>Een verzameling losse contactmomenten.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297680"/>
            <a:ext cx="5029200" cy="1691640"/>
          </a:xfrm>
          <a:prstGeom prst="roundRect">
            <a:avLst>
              <a:gd name="adj" fmla="val 8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498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FFFFFF"/>
                </a:solidFill>
                <a:latin typeface="Inter"/>
              </a:rPr>
              <a:t>WÉL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864608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50" b="1">
                <a:solidFill>
                  <a:srgbClr val="FFFFFF"/>
                </a:solidFill>
                <a:latin typeface="Inter"/>
              </a:rPr>
              <a:t>Eén structureel systeem dat ondernemers beter leert kennen, beter helpt en op het juiste moment meedenkt.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WAAROM DEZE KLANTREIS?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Van dossierrelatie naar ondernemersrelatie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57400"/>
            <a:ext cx="5074920" cy="3154680"/>
          </a:xfrm>
          <a:prstGeom prst="roundRect">
            <a:avLst>
              <a:gd name="adj" fmla="val 5000"/>
            </a:avLst>
          </a:prstGeom>
          <a:solidFill>
            <a:srgbClr val="F4F6F7"/>
          </a:solidFill>
          <a:ln w="12700">
            <a:solidFill>
              <a:srgbClr val="E2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237744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525C6B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441448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800" b="1">
                <a:solidFill>
                  <a:srgbClr val="142A33"/>
                </a:solidFill>
                <a:latin typeface="Inter"/>
              </a:rPr>
              <a:t>De dossierrelatie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843784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525C6B"/>
                </a:solidFill>
                <a:latin typeface="Inter"/>
              </a:rPr>
              <a:t>Hoe het vaak gaat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429000"/>
            <a:ext cx="4343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525C6B"/>
                </a:solidFill>
                <a:latin typeface="Inter"/>
              </a:rPr>
              <a:t>–  </a:t>
            </a:r>
            <a:r>
              <a:rPr sz="1350" b="0">
                <a:solidFill>
                  <a:srgbClr val="1F2937"/>
                </a:solidFill>
                <a:latin typeface="Inter"/>
              </a:rPr>
              <a:t>Contact alleen als er een probleem speelt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525C6B"/>
                </a:solidFill>
                <a:latin typeface="Inter"/>
              </a:rPr>
              <a:t>–  </a:t>
            </a:r>
            <a:r>
              <a:rPr sz="1350" b="0">
                <a:solidFill>
                  <a:srgbClr val="1F2937"/>
                </a:solidFill>
                <a:latin typeface="Inter"/>
              </a:rPr>
              <a:t>Draait om dossiers en losse werkzaamheden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525C6B"/>
                </a:solidFill>
                <a:latin typeface="Inter"/>
              </a:rPr>
              <a:t>–  </a:t>
            </a:r>
            <a:r>
              <a:rPr sz="1350" b="0">
                <a:solidFill>
                  <a:srgbClr val="1F2937"/>
                </a:solidFill>
                <a:latin typeface="Inter"/>
              </a:rPr>
              <a:t>Reactief: wachten tot de klant belt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525C6B"/>
                </a:solidFill>
                <a:latin typeface="Inter"/>
              </a:rPr>
              <a:t>–  </a:t>
            </a:r>
            <a:r>
              <a:rPr sz="1350" b="0">
                <a:solidFill>
                  <a:srgbClr val="1F2937"/>
                </a:solidFill>
                <a:latin typeface="Inter"/>
              </a:rPr>
              <a:t>We kennen het dossier, niet de onderneming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3952" y="2057400"/>
            <a:ext cx="5074920" cy="315468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2" y="2057400"/>
            <a:ext cx="128016" cy="3154680"/>
          </a:xfrm>
          <a:prstGeom prst="roundRect">
            <a:avLst>
              <a:gd name="adj" fmla="val 5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93992" y="237744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93992" y="23774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792" y="2441448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800" b="1">
                <a:solidFill>
                  <a:srgbClr val="2FA766"/>
                </a:solidFill>
                <a:latin typeface="Inter"/>
              </a:rPr>
              <a:t>De ondernemersrelatie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9792" y="2843784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2F7A55"/>
                </a:solidFill>
                <a:latin typeface="Inter"/>
              </a:rPr>
              <a:t>Waar VDT naartoe bouwt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429000"/>
            <a:ext cx="4343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2FA766"/>
                </a:solidFill>
                <a:latin typeface="Inter"/>
              </a:rPr>
              <a:t>✓  </a:t>
            </a:r>
            <a:r>
              <a:rPr sz="1350" b="0">
                <a:solidFill>
                  <a:srgbClr val="1F2937"/>
                </a:solidFill>
                <a:latin typeface="Inter"/>
              </a:rPr>
              <a:t>Contact vóórdat er een probleem ontstaat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2FA766"/>
                </a:solidFill>
                <a:latin typeface="Inter"/>
              </a:rPr>
              <a:t>✓  </a:t>
            </a:r>
            <a:r>
              <a:rPr sz="1350" b="0">
                <a:solidFill>
                  <a:srgbClr val="1F2937"/>
                </a:solidFill>
                <a:latin typeface="Inter"/>
              </a:rPr>
              <a:t>Draait om de ondernemer én de onderneming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2FA766"/>
                </a:solidFill>
                <a:latin typeface="Inter"/>
              </a:rPr>
              <a:t>✓  </a:t>
            </a:r>
            <a:r>
              <a:rPr sz="1350" b="0">
                <a:solidFill>
                  <a:srgbClr val="1F2937"/>
                </a:solidFill>
                <a:latin typeface="Inter"/>
              </a:rPr>
              <a:t>Proactief: wij denken mee en kijken vooruit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2FA766"/>
                </a:solidFill>
                <a:latin typeface="Inter"/>
              </a:rPr>
              <a:t>✓  </a:t>
            </a:r>
            <a:r>
              <a:rPr sz="1350" b="0">
                <a:solidFill>
                  <a:srgbClr val="1F2937"/>
                </a:solidFill>
                <a:latin typeface="Inter"/>
              </a:rPr>
              <a:t>We begrijpen de onderneming achter het dossier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400" b="0">
                <a:solidFill>
                  <a:srgbClr val="1F2937"/>
                </a:solidFill>
                <a:latin typeface="Inter"/>
              </a:rPr>
              <a:t>Cross-selling is geen doel op zich — het is het </a:t>
            </a:r>
            <a:r>
              <a:rPr sz="1400" b="1">
                <a:solidFill>
                  <a:srgbClr val="007F81"/>
                </a:solidFill>
                <a:latin typeface="Inter"/>
              </a:rPr>
              <a:t>logische gevolg</a:t>
            </a:r>
            <a:r>
              <a:rPr sz="1400" b="0">
                <a:solidFill>
                  <a:srgbClr val="1F2937"/>
                </a:solidFill>
                <a:latin typeface="Inter"/>
              </a:rPr>
              <a:t> van relevantie, vertrouwen en klantwaarde.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2FA766"/>
                </a:solidFill>
                <a:latin typeface="Inter"/>
              </a:rPr>
              <a:t>DE GEDACHTE ERACHTER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De filosofie: vijf principes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349300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118872" cy="1783080"/>
          </a:xfrm>
          <a:prstGeom prst="roundRect">
            <a:avLst>
              <a:gd name="adj" fmla="val 50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1832" y="2404872"/>
            <a:ext cx="530352" cy="530352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40487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414016"/>
            <a:ext cx="235000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50" b="1">
                <a:solidFill>
                  <a:srgbClr val="142A33"/>
                </a:solidFill>
                <a:latin typeface="Inter"/>
              </a:rPr>
              <a:t>We leren de ondernemer kennen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127248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</a:pPr>
            <a:r>
              <a:rPr sz="1200" b="0">
                <a:solidFill>
                  <a:srgbClr val="525C6B"/>
                </a:solidFill>
                <a:latin typeface="Inter"/>
              </a:rPr>
              <a:t>Niet alleen het dossier — de mens achter de vraag.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2103120"/>
            <a:ext cx="349300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34256" y="2103120"/>
            <a:ext cx="118872" cy="1783080"/>
          </a:xfrm>
          <a:prstGeom prst="roundRect">
            <a:avLst>
              <a:gd name="adj" fmla="val 5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36008" y="2404872"/>
            <a:ext cx="530352" cy="530352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240487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94376" y="2414016"/>
            <a:ext cx="235000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50" b="1">
                <a:solidFill>
                  <a:srgbClr val="142A33"/>
                </a:solidFill>
                <a:latin typeface="Inter"/>
              </a:rPr>
              <a:t>We leren de onderneming kennen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3127248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</a:pPr>
            <a:r>
              <a:rPr sz="1200" b="0">
                <a:solidFill>
                  <a:srgbClr val="525C6B"/>
                </a:solidFill>
                <a:latin typeface="Inter"/>
              </a:rPr>
              <a:t>Wat speelt er? Waar liggen uitdagingen en ambities?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2" y="2103120"/>
            <a:ext cx="349300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28432" y="2103120"/>
            <a:ext cx="118872" cy="1783080"/>
          </a:xfrm>
          <a:prstGeom prst="roundRect">
            <a:avLst>
              <a:gd name="adj" fmla="val 50000"/>
            </a:avLst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30184" y="2404872"/>
            <a:ext cx="530352" cy="530352"/>
          </a:xfrm>
          <a:prstGeom prst="ellipse">
            <a:avLst/>
          </a:prstGeom>
          <a:solidFill>
            <a:srgbClr val="F4C200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4" y="240487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414016"/>
            <a:ext cx="235000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50" b="1">
                <a:solidFill>
                  <a:srgbClr val="142A33"/>
                </a:solidFill>
                <a:latin typeface="Inter"/>
              </a:rPr>
              <a:t>We voegen eerst waarde toe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127248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</a:pPr>
            <a:r>
              <a:rPr sz="1200" b="0">
                <a:solidFill>
                  <a:srgbClr val="525C6B"/>
                </a:solidFill>
                <a:latin typeface="Inter"/>
              </a:rPr>
              <a:t>Eerst helpen, dan adviseren. Nooit andersom.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87168" y="4087368"/>
            <a:ext cx="349300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487168" y="4087368"/>
            <a:ext cx="118872" cy="1783080"/>
          </a:xfrm>
          <a:prstGeom prst="roundRect">
            <a:avLst>
              <a:gd name="adj" fmla="val 50000"/>
            </a:avLst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88920" y="4389120"/>
            <a:ext cx="530352" cy="530352"/>
          </a:xfrm>
          <a:prstGeom prst="ellipse">
            <a:avLst/>
          </a:prstGeom>
          <a:solidFill>
            <a:srgbClr val="E74049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88920" y="438912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7288" y="4398264"/>
            <a:ext cx="235000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50" b="1">
                <a:solidFill>
                  <a:srgbClr val="142A33"/>
                </a:solidFill>
                <a:latin typeface="Inter"/>
              </a:rPr>
              <a:t>We luisteren actief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71216" y="5111496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</a:pPr>
            <a:r>
              <a:rPr sz="1200" b="0">
                <a:solidFill>
                  <a:srgbClr val="525C6B"/>
                </a:solidFill>
                <a:latin typeface="Inter"/>
              </a:rPr>
              <a:t>Niet wachten op feedback — zelf contact opnemen.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1344" y="4087368"/>
            <a:ext cx="349300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181344" y="4087368"/>
            <a:ext cx="118872" cy="1783080"/>
          </a:xfrm>
          <a:prstGeom prst="roundRect">
            <a:avLst>
              <a:gd name="adj" fmla="val 50000"/>
            </a:avLst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83096" y="4389120"/>
            <a:ext cx="530352" cy="530352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83096" y="438912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41464" y="4398264"/>
            <a:ext cx="235000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50" b="1">
                <a:solidFill>
                  <a:srgbClr val="142A33"/>
                </a:solidFill>
                <a:latin typeface="Inter"/>
              </a:rPr>
              <a:t>We kijken vooruit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65392" y="5111496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</a:pPr>
            <a:r>
              <a:rPr sz="1200" b="0">
                <a:solidFill>
                  <a:srgbClr val="525C6B"/>
                </a:solidFill>
                <a:latin typeface="Inter"/>
              </a:rPr>
              <a:t>Niet alleen vandaag, maar de onderneming van morgen.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HET OVERZICHT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De vijf fases van de klantreis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154680"/>
            <a:ext cx="10469880" cy="54864"/>
          </a:xfrm>
          <a:prstGeom prst="rect">
            <a:avLst/>
          </a:prstGeom>
          <a:solidFill>
            <a:srgbClr val="E2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2880360"/>
            <a:ext cx="603504" cy="603504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8803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5296" y="2971800"/>
            <a:ext cx="27432" cy="18288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" y="1737360"/>
            <a:ext cx="1874519" cy="1234440"/>
          </a:xfrm>
          <a:prstGeom prst="roundRect">
            <a:avLst>
              <a:gd name="adj" fmla="val 1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7180" y="1737360"/>
            <a:ext cx="1874519" cy="91440"/>
          </a:xfrm>
          <a:prstGeom prst="roundRect">
            <a:avLst>
              <a:gd name="adj" fmla="val 50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8620" y="1883664"/>
            <a:ext cx="16916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</a:pPr>
            <a:r>
              <a:rPr sz="1250" b="1">
                <a:solidFill>
                  <a:srgbClr val="142A33"/>
                </a:solidFill>
                <a:latin typeface="Inter"/>
              </a:rPr>
              <a:t>Welkom &amp; Onboarding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" y="2450592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50" b="1">
                <a:solidFill>
                  <a:srgbClr val="007F81"/>
                </a:solidFill>
                <a:latin typeface="Inter"/>
              </a:rPr>
              <a:t>Direct na klantwording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" y="2688336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50" b="0">
                <a:solidFill>
                  <a:srgbClr val="525C6B"/>
                </a:solidFill>
                <a:latin typeface="Inter"/>
              </a:rPr>
              <a:t>Warme, persoonlijke start</a:t>
            </a:r>
          </a:p>
        </p:txBody>
      </p:sp>
      <p:sp>
        <p:nvSpPr>
          <p:cNvPr id="18" name="Oval 17"/>
          <p:cNvSpPr/>
          <p:nvPr/>
        </p:nvSpPr>
        <p:spPr>
          <a:xfrm>
            <a:off x="3367278" y="2880360"/>
            <a:ext cx="603504" cy="603504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67278" y="28803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9886" y="3483864"/>
            <a:ext cx="27432" cy="182880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731770" y="3657600"/>
            <a:ext cx="1874519" cy="12344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31770" y="3657600"/>
            <a:ext cx="1874519" cy="91440"/>
          </a:xfrm>
          <a:prstGeom prst="roundRect">
            <a:avLst>
              <a:gd name="adj" fmla="val 5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23210" y="3803904"/>
            <a:ext cx="16916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</a:pPr>
            <a:r>
              <a:rPr sz="1250" b="1">
                <a:solidFill>
                  <a:srgbClr val="142A33"/>
                </a:solidFill>
                <a:latin typeface="Inter"/>
              </a:rPr>
              <a:t>Kennismaking &amp; Legal MRI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23210" y="4370832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50" b="1">
                <a:solidFill>
                  <a:srgbClr val="2FA766"/>
                </a:solidFill>
                <a:latin typeface="Inter"/>
              </a:rPr>
              <a:t>± 14 dagen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23210" y="4608576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50" b="0">
                <a:solidFill>
                  <a:srgbClr val="525C6B"/>
                </a:solidFill>
                <a:latin typeface="Inter"/>
              </a:rPr>
              <a:t>Onderneming leren kennen</a:t>
            </a:r>
          </a:p>
        </p:txBody>
      </p:sp>
      <p:sp>
        <p:nvSpPr>
          <p:cNvPr id="26" name="Oval 25"/>
          <p:cNvSpPr/>
          <p:nvPr/>
        </p:nvSpPr>
        <p:spPr>
          <a:xfrm>
            <a:off x="5801868" y="2880360"/>
            <a:ext cx="603504" cy="603504"/>
          </a:xfrm>
          <a:prstGeom prst="ellipse">
            <a:avLst/>
          </a:prstGeom>
          <a:solidFill>
            <a:srgbClr val="F4C200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1868" y="28803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4476" y="2971800"/>
            <a:ext cx="27432" cy="182880"/>
          </a:xfrm>
          <a:prstGeom prst="rect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166360" y="1737360"/>
            <a:ext cx="1874519" cy="1234440"/>
          </a:xfrm>
          <a:prstGeom prst="roundRect">
            <a:avLst>
              <a:gd name="adj" fmla="val 10000"/>
            </a:avLst>
          </a:prstGeom>
          <a:solidFill>
            <a:srgbClr val="FD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166360" y="1737360"/>
            <a:ext cx="1874519" cy="91440"/>
          </a:xfrm>
          <a:prstGeom prst="roundRect">
            <a:avLst>
              <a:gd name="adj" fmla="val 50000"/>
            </a:avLst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57800" y="1883664"/>
            <a:ext cx="16916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</a:pPr>
            <a:r>
              <a:rPr sz="1250" b="1">
                <a:solidFill>
                  <a:srgbClr val="142A33"/>
                </a:solidFill>
                <a:latin typeface="Inter"/>
              </a:rPr>
              <a:t>Proactief waarde toevoegen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2450592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50" b="1">
                <a:solidFill>
                  <a:srgbClr val="004244"/>
                </a:solidFill>
                <a:latin typeface="Inter"/>
              </a:rPr>
              <a:t>± 30 dagen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2688336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50" b="0">
                <a:solidFill>
                  <a:srgbClr val="525C6B"/>
                </a:solidFill>
                <a:latin typeface="Inter"/>
              </a:rPr>
              <a:t>Helpen zonder tegenprestatie</a:t>
            </a:r>
          </a:p>
        </p:txBody>
      </p:sp>
      <p:sp>
        <p:nvSpPr>
          <p:cNvPr id="34" name="Oval 33"/>
          <p:cNvSpPr/>
          <p:nvPr/>
        </p:nvSpPr>
        <p:spPr>
          <a:xfrm>
            <a:off x="8236458" y="2880360"/>
            <a:ext cx="603504" cy="603504"/>
          </a:xfrm>
          <a:prstGeom prst="ellipse">
            <a:avLst/>
          </a:prstGeom>
          <a:solidFill>
            <a:srgbClr val="E74049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36458" y="28803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29066" y="3483864"/>
            <a:ext cx="27432" cy="182880"/>
          </a:xfrm>
          <a:prstGeom prst="rect">
            <a:avLst/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600950" y="3657600"/>
            <a:ext cx="1874519" cy="1234440"/>
          </a:xfrm>
          <a:prstGeom prst="roundRect">
            <a:avLst>
              <a:gd name="adj" fmla="val 10000"/>
            </a:avLst>
          </a:prstGeom>
          <a:solidFill>
            <a:srgbClr val="FB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600950" y="3657600"/>
            <a:ext cx="1874519" cy="91440"/>
          </a:xfrm>
          <a:prstGeom prst="roundRect">
            <a:avLst>
              <a:gd name="adj" fmla="val 50000"/>
            </a:avLst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92390" y="3803904"/>
            <a:ext cx="16916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</a:pPr>
            <a:r>
              <a:rPr sz="1250" b="1">
                <a:solidFill>
                  <a:srgbClr val="142A33"/>
                </a:solidFill>
                <a:latin typeface="Inter"/>
              </a:rPr>
              <a:t>90 dagen Check-in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92390" y="4370832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50" b="1">
                <a:solidFill>
                  <a:srgbClr val="E74049"/>
                </a:solidFill>
                <a:latin typeface="Inter"/>
              </a:rPr>
              <a:t>± 90 dagen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2390" y="4608576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50" b="0">
                <a:solidFill>
                  <a:srgbClr val="525C6B"/>
                </a:solidFill>
                <a:latin typeface="Inter"/>
              </a:rPr>
              <a:t>Luisteren en verdiepen</a:t>
            </a:r>
          </a:p>
        </p:txBody>
      </p:sp>
      <p:sp>
        <p:nvSpPr>
          <p:cNvPr id="42" name="Oval 41"/>
          <p:cNvSpPr/>
          <p:nvPr/>
        </p:nvSpPr>
        <p:spPr>
          <a:xfrm>
            <a:off x="10671048" y="2880360"/>
            <a:ext cx="603504" cy="603504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71048" y="288036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963656" y="2971800"/>
            <a:ext cx="27432" cy="182880"/>
          </a:xfrm>
          <a:prstGeom prst="rect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035540" y="1737360"/>
            <a:ext cx="1874519" cy="1234440"/>
          </a:xfrm>
          <a:prstGeom prst="roundRect">
            <a:avLst>
              <a:gd name="adj" fmla="val 1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035540" y="1737360"/>
            <a:ext cx="1874519" cy="91440"/>
          </a:xfrm>
          <a:prstGeom prst="roundRect">
            <a:avLst>
              <a:gd name="adj" fmla="val 50000"/>
            </a:avLst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26980" y="1883664"/>
            <a:ext cx="16916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</a:pPr>
            <a:r>
              <a:rPr sz="1250" b="1">
                <a:solidFill>
                  <a:srgbClr val="142A33"/>
                </a:solidFill>
                <a:latin typeface="Inter"/>
              </a:rPr>
              <a:t>Onderneem Mee Gesprek (OMG)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26980" y="2450592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50" b="1">
                <a:solidFill>
                  <a:srgbClr val="004244"/>
                </a:solidFill>
                <a:latin typeface="Inter"/>
              </a:rPr>
              <a:t>± 12 maanden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26980" y="2688336"/>
            <a:ext cx="16916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950" b="0">
                <a:solidFill>
                  <a:srgbClr val="525C6B"/>
                </a:solidFill>
                <a:latin typeface="Inter"/>
              </a:rPr>
              <a:t>Vooruitkijken samen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400" b="0">
                <a:solidFill>
                  <a:srgbClr val="1F2937"/>
                </a:solidFill>
                <a:latin typeface="Inter"/>
              </a:rPr>
              <a:t>Elke stap bouwt voort op de vorige: </a:t>
            </a:r>
            <a:r>
              <a:rPr sz="1400" b="1">
                <a:solidFill>
                  <a:srgbClr val="007F81"/>
                </a:solidFill>
                <a:latin typeface="Inter"/>
              </a:rPr>
              <a:t>Welkom → Kennismaken → Waarde toevoegen → Luisteren → Vooruitkijken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502920"/>
            <a:ext cx="822960" cy="822960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7F81"/>
                </a:solidFill>
                <a:latin typeface="Inter"/>
              </a:rPr>
              <a:t>FASE 1  ·  DIRECT NA KLANTWORDING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877824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142A33"/>
                </a:solidFill>
                <a:latin typeface="Inter"/>
              </a:rPr>
              <a:t>Welkom &amp; Onboarding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1572768"/>
            <a:ext cx="9601200" cy="566928"/>
          </a:xfrm>
          <a:prstGeom prst="roundRect">
            <a:avLst>
              <a:gd name="adj" fmla="val 2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1572768"/>
            <a:ext cx="9235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7F81"/>
                </a:solidFill>
                <a:latin typeface="Inter"/>
              </a:rPr>
              <a:t>Doel:  </a:t>
            </a:r>
            <a:r>
              <a:rPr sz="1300" b="0">
                <a:solidFill>
                  <a:srgbClr val="1F2937"/>
                </a:solidFill>
                <a:latin typeface="Inter"/>
              </a:rPr>
              <a:t>Een warme, persoonlijke en laagdrempelige start van de samenwerking.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6126480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249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7F81"/>
                </a:solidFill>
                <a:latin typeface="Inter"/>
              </a:rPr>
              <a:t>WAT DOEN WE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821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07F81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Persoonlijke welkomstmail vanuit het klantteam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07F81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Klant aanmaken &amp; gegevens verrijken (kort formulier)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07F81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Laten zien: een héél team staat klaar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07F81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Direct duidelijk: de lijnen staan altijd open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468880"/>
            <a:ext cx="4526280" cy="2926080"/>
          </a:xfrm>
          <a:prstGeom prst="roundRect">
            <a:avLst>
              <a:gd name="adj" fmla="val 5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2724912"/>
            <a:ext cx="3977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7F81"/>
                </a:solidFill>
                <a:latin typeface="Inter"/>
              </a:rPr>
              <a:t>KERNWOORDEN UIT DE MAILS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035808"/>
            <a:ext cx="3977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De taal die onze waarden laat zien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3493008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7F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3493008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Samen</a:t>
            </a:r>
          </a:p>
        </p:txBody>
      </p:sp>
      <p:sp>
        <p:nvSpPr>
          <p:cNvPr id="18" name="Oval 17"/>
          <p:cNvSpPr/>
          <p:nvPr/>
        </p:nvSpPr>
        <p:spPr>
          <a:xfrm>
            <a:off x="7516368" y="3630168"/>
            <a:ext cx="146304" cy="146304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60920" y="3968496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7F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3968496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Sparren</a:t>
            </a:r>
          </a:p>
        </p:txBody>
      </p:sp>
      <p:sp>
        <p:nvSpPr>
          <p:cNvPr id="21" name="Oval 20"/>
          <p:cNvSpPr/>
          <p:nvPr/>
        </p:nvSpPr>
        <p:spPr>
          <a:xfrm>
            <a:off x="7516368" y="4105656"/>
            <a:ext cx="146304" cy="146304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60920" y="4443984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7F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4443984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Meedenken</a:t>
            </a:r>
          </a:p>
        </p:txBody>
      </p:sp>
      <p:sp>
        <p:nvSpPr>
          <p:cNvPr id="24" name="Oval 23"/>
          <p:cNvSpPr/>
          <p:nvPr/>
        </p:nvSpPr>
        <p:spPr>
          <a:xfrm>
            <a:off x="7516368" y="4581144"/>
            <a:ext cx="146304" cy="146304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60920" y="4919472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7F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4919472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Lijnen altijd open</a:t>
            </a:r>
          </a:p>
        </p:txBody>
      </p:sp>
      <p:sp>
        <p:nvSpPr>
          <p:cNvPr id="27" name="Oval 26"/>
          <p:cNvSpPr/>
          <p:nvPr/>
        </p:nvSpPr>
        <p:spPr>
          <a:xfrm>
            <a:off x="7516368" y="5056632"/>
            <a:ext cx="146304" cy="146304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577840"/>
            <a:ext cx="10927080" cy="566928"/>
          </a:xfrm>
          <a:prstGeom prst="roundRect">
            <a:avLst>
              <a:gd name="adj" fmla="val 18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577840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Inter"/>
              </a:rPr>
              <a:t>Gewenst resultaat:  </a:t>
            </a:r>
            <a:r>
              <a:rPr sz="1300" b="0">
                <a:solidFill>
                  <a:srgbClr val="FFFFFF"/>
                </a:solidFill>
                <a:latin typeface="Inter"/>
              </a:rPr>
              <a:t>De ondernemer voelt zich welkom, gezien en serieus genomen.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502920"/>
            <a:ext cx="822960" cy="822960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2FA766"/>
                </a:solidFill>
                <a:latin typeface="Inter"/>
              </a:rPr>
              <a:t>FASE 2  ·  ± 14 DAGEN NA KLANTWORDING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877824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142A33"/>
                </a:solidFill>
                <a:latin typeface="Inter"/>
              </a:rPr>
              <a:t>Kennismaking &amp; Legal MRI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1572768"/>
            <a:ext cx="9601200" cy="566928"/>
          </a:xfrm>
          <a:prstGeom prst="roundRect">
            <a:avLst>
              <a:gd name="adj" fmla="val 2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1572768"/>
            <a:ext cx="9235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2FA766"/>
                </a:solidFill>
                <a:latin typeface="Inter"/>
              </a:rPr>
              <a:t>Doel:  </a:t>
            </a:r>
            <a:r>
              <a:rPr sz="1300" b="0">
                <a:solidFill>
                  <a:srgbClr val="1F2937"/>
                </a:solidFill>
                <a:latin typeface="Inter"/>
              </a:rPr>
              <a:t>De onderneming achter het dossier leren kennen — niet om iets te verkopen.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6126480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249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2FA766"/>
                </a:solidFill>
                <a:latin typeface="Inter"/>
              </a:rPr>
              <a:t>WAT DOEN WE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821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2FA766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Informele kennismaking: een kop koffie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2FA766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Niet over het dossier, wél over de onderneming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2FA766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Legal MRI vooraf invullen (± 10 min)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2FA766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Rapport met inzichten als gespreksbasis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468880"/>
            <a:ext cx="4526280" cy="292608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2724912"/>
            <a:ext cx="3977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2FA766"/>
                </a:solidFill>
                <a:latin typeface="Inter"/>
              </a:rPr>
              <a:t>KERNWOORDEN UIT DE MAILS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035808"/>
            <a:ext cx="3977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De taal die onze waarden laat zien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3493008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2FA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3493008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2FA766"/>
                </a:solidFill>
                <a:latin typeface="Inter"/>
              </a:rPr>
              <a:t>Onderneming achter het dossier</a:t>
            </a:r>
          </a:p>
        </p:txBody>
      </p:sp>
      <p:sp>
        <p:nvSpPr>
          <p:cNvPr id="18" name="Oval 17"/>
          <p:cNvSpPr/>
          <p:nvPr/>
        </p:nvSpPr>
        <p:spPr>
          <a:xfrm>
            <a:off x="7516368" y="3630168"/>
            <a:ext cx="146304" cy="146304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60920" y="3968496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2FA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3968496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2FA766"/>
                </a:solidFill>
                <a:latin typeface="Inter"/>
              </a:rPr>
              <a:t>Kop koffie</a:t>
            </a:r>
          </a:p>
        </p:txBody>
      </p:sp>
      <p:sp>
        <p:nvSpPr>
          <p:cNvPr id="21" name="Oval 20"/>
          <p:cNvSpPr/>
          <p:nvPr/>
        </p:nvSpPr>
        <p:spPr>
          <a:xfrm>
            <a:off x="7516368" y="4105656"/>
            <a:ext cx="146304" cy="146304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60920" y="4443984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2FA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4443984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2FA766"/>
                </a:solidFill>
                <a:latin typeface="Inter"/>
              </a:rPr>
              <a:t>Inzicht</a:t>
            </a:r>
          </a:p>
        </p:txBody>
      </p:sp>
      <p:sp>
        <p:nvSpPr>
          <p:cNvPr id="24" name="Oval 23"/>
          <p:cNvSpPr/>
          <p:nvPr/>
        </p:nvSpPr>
        <p:spPr>
          <a:xfrm>
            <a:off x="7516368" y="4581144"/>
            <a:ext cx="146304" cy="146304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60920" y="4919472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2FA7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4919472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2FA766"/>
                </a:solidFill>
                <a:latin typeface="Inter"/>
              </a:rPr>
              <a:t>Kennismaken</a:t>
            </a:r>
          </a:p>
        </p:txBody>
      </p:sp>
      <p:sp>
        <p:nvSpPr>
          <p:cNvPr id="27" name="Oval 26"/>
          <p:cNvSpPr/>
          <p:nvPr/>
        </p:nvSpPr>
        <p:spPr>
          <a:xfrm>
            <a:off x="7516368" y="5056632"/>
            <a:ext cx="146304" cy="146304"/>
          </a:xfrm>
          <a:prstGeom prst="ellipse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577840"/>
            <a:ext cx="10927080" cy="566928"/>
          </a:xfrm>
          <a:prstGeom prst="roundRect">
            <a:avLst>
              <a:gd name="adj" fmla="val 18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577840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Inter"/>
              </a:rPr>
              <a:t>Gewenst resultaat:  </a:t>
            </a:r>
            <a:r>
              <a:rPr sz="1300" b="0">
                <a:solidFill>
                  <a:srgbClr val="FFFFFF"/>
                </a:solidFill>
                <a:latin typeface="Inter"/>
              </a:rPr>
              <a:t>“VDT begrijpt mijn onderneming en heeft oprechte interesse.”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502920"/>
            <a:ext cx="822960" cy="822960"/>
          </a:xfrm>
          <a:prstGeom prst="ellipse">
            <a:avLst/>
          </a:prstGeom>
          <a:solidFill>
            <a:srgbClr val="F4C200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4244"/>
                </a:solidFill>
                <a:latin typeface="Inter"/>
              </a:rPr>
              <a:t>FASE 3  ·  ± 30 DAGEN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877824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142A33"/>
                </a:solidFill>
                <a:latin typeface="Inter"/>
              </a:rPr>
              <a:t>Proactief waarde toevoegen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1572768"/>
            <a:ext cx="9601200" cy="566928"/>
          </a:xfrm>
          <a:prstGeom prst="roundRect">
            <a:avLst>
              <a:gd name="adj" fmla="val 20000"/>
            </a:avLst>
          </a:prstGeom>
          <a:solidFill>
            <a:srgbClr val="FD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1572768"/>
            <a:ext cx="9235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244"/>
                </a:solidFill>
                <a:latin typeface="Inter"/>
              </a:rPr>
              <a:t>Doel:  </a:t>
            </a:r>
            <a:r>
              <a:rPr sz="1300" b="0">
                <a:solidFill>
                  <a:srgbClr val="1F2937"/>
                </a:solidFill>
                <a:latin typeface="Inter"/>
              </a:rPr>
              <a:t>Waarde leveren zónder directe tegenprestatie. Eerst helpen, dan adviseren.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6126480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249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4244"/>
                </a:solidFill>
                <a:latin typeface="Inter"/>
              </a:rPr>
              <a:t>WAT DOEN WE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821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F4C200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Een praktisch hulpmiddel of praktijkgids delen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F4C200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Bruikbaar en toepasbaar — geen vaktaal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F4C200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Geen nieuwsbrief, geen verplichting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F4C200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“Hier kan ik direct iets mee.”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468880"/>
            <a:ext cx="4526280" cy="2926080"/>
          </a:xfrm>
          <a:prstGeom prst="roundRect">
            <a:avLst>
              <a:gd name="adj" fmla="val 5000"/>
            </a:avLst>
          </a:prstGeom>
          <a:solidFill>
            <a:srgbClr val="FD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2724912"/>
            <a:ext cx="3977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4244"/>
                </a:solidFill>
                <a:latin typeface="Inter"/>
              </a:rPr>
              <a:t>KERNWOORDEN UIT DE MAILS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035808"/>
            <a:ext cx="3977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De taal die onze waarden laat zien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3493008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F4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3493008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Waardevol</a:t>
            </a:r>
          </a:p>
        </p:txBody>
      </p:sp>
      <p:sp>
        <p:nvSpPr>
          <p:cNvPr id="18" name="Oval 17"/>
          <p:cNvSpPr/>
          <p:nvPr/>
        </p:nvSpPr>
        <p:spPr>
          <a:xfrm>
            <a:off x="7516368" y="3630168"/>
            <a:ext cx="146304" cy="146304"/>
          </a:xfrm>
          <a:prstGeom prst="ellipse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60920" y="3968496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F4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3968496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Praktisch hulpmiddel</a:t>
            </a:r>
          </a:p>
        </p:txBody>
      </p:sp>
      <p:sp>
        <p:nvSpPr>
          <p:cNvPr id="21" name="Oval 20"/>
          <p:cNvSpPr/>
          <p:nvPr/>
        </p:nvSpPr>
        <p:spPr>
          <a:xfrm>
            <a:off x="7516368" y="4105656"/>
            <a:ext cx="146304" cy="146304"/>
          </a:xfrm>
          <a:prstGeom prst="ellipse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60920" y="4443984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F4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4443984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Geen verplichting</a:t>
            </a:r>
          </a:p>
        </p:txBody>
      </p:sp>
      <p:sp>
        <p:nvSpPr>
          <p:cNvPr id="24" name="Oval 23"/>
          <p:cNvSpPr/>
          <p:nvPr/>
        </p:nvSpPr>
        <p:spPr>
          <a:xfrm>
            <a:off x="7516368" y="4581144"/>
            <a:ext cx="146304" cy="146304"/>
          </a:xfrm>
          <a:prstGeom prst="ellipse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60920" y="4919472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F4C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4919472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Geen verkooppraatje</a:t>
            </a:r>
          </a:p>
        </p:txBody>
      </p:sp>
      <p:sp>
        <p:nvSpPr>
          <p:cNvPr id="27" name="Oval 26"/>
          <p:cNvSpPr/>
          <p:nvPr/>
        </p:nvSpPr>
        <p:spPr>
          <a:xfrm>
            <a:off x="7516368" y="5056632"/>
            <a:ext cx="146304" cy="146304"/>
          </a:xfrm>
          <a:prstGeom prst="ellipse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577840"/>
            <a:ext cx="10927080" cy="566928"/>
          </a:xfrm>
          <a:prstGeom prst="roundRect">
            <a:avLst>
              <a:gd name="adj" fmla="val 18000"/>
            </a:avLst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577840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244"/>
                </a:solidFill>
                <a:latin typeface="Inter"/>
              </a:rPr>
              <a:t>Gewenst resultaat:  </a:t>
            </a:r>
            <a:r>
              <a:rPr sz="1300" b="0">
                <a:solidFill>
                  <a:srgbClr val="004244"/>
                </a:solidFill>
                <a:latin typeface="Inter"/>
              </a:rPr>
              <a:t>VDT helpt ook als er géén juridisch vraagstuk speelt.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502920"/>
            <a:ext cx="822960" cy="822960"/>
          </a:xfrm>
          <a:prstGeom prst="ellipse">
            <a:avLst/>
          </a:prstGeom>
          <a:solidFill>
            <a:srgbClr val="E74049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E74049"/>
                </a:solidFill>
                <a:latin typeface="Inter"/>
              </a:rPr>
              <a:t>FASE 4  ·  ± 90 DAGEN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877824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142A33"/>
                </a:solidFill>
                <a:latin typeface="Inter"/>
              </a:rPr>
              <a:t>90 dagen Check-in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1572768"/>
            <a:ext cx="9601200" cy="566928"/>
          </a:xfrm>
          <a:prstGeom prst="roundRect">
            <a:avLst>
              <a:gd name="adj" fmla="val 20000"/>
            </a:avLst>
          </a:prstGeom>
          <a:solidFill>
            <a:srgbClr val="FB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1572768"/>
            <a:ext cx="9235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E74049"/>
                </a:solidFill>
                <a:latin typeface="Inter"/>
              </a:rPr>
              <a:t>Doel:  </a:t>
            </a:r>
            <a:r>
              <a:rPr sz="1300" b="0">
                <a:solidFill>
                  <a:srgbClr val="1F2937"/>
                </a:solidFill>
                <a:latin typeface="Inter"/>
              </a:rPr>
              <a:t>Luisteren en de relatie verdiepen. Niet evalueren, niet verkopen.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6126480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249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E74049"/>
                </a:solidFill>
                <a:latin typeface="Inter"/>
              </a:rPr>
              <a:t>WAT DOEN WE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821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E74049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Kort, laagdrempelig telefoontje (5–10 min)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E74049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Hoe ervaar je de samenwerking?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E74049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Wat kunnen we beter doen?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E74049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Ontwikkelingen &amp; inzichten vastleggen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468880"/>
            <a:ext cx="4526280" cy="2926080"/>
          </a:xfrm>
          <a:prstGeom prst="roundRect">
            <a:avLst>
              <a:gd name="adj" fmla="val 5000"/>
            </a:avLst>
          </a:prstGeom>
          <a:solidFill>
            <a:srgbClr val="FB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2724912"/>
            <a:ext cx="3977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E74049"/>
                </a:solidFill>
                <a:latin typeface="Inter"/>
              </a:rPr>
              <a:t>KERNWOORDEN UIT DE MAILS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035808"/>
            <a:ext cx="3977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De taal die onze waarden laat zien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3493008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E74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3493008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E74049"/>
                </a:solidFill>
                <a:latin typeface="Inter"/>
              </a:rPr>
              <a:t>Hoe ervaar je de samenwerking?</a:t>
            </a:r>
          </a:p>
        </p:txBody>
      </p:sp>
      <p:sp>
        <p:nvSpPr>
          <p:cNvPr id="18" name="Oval 17"/>
          <p:cNvSpPr/>
          <p:nvPr/>
        </p:nvSpPr>
        <p:spPr>
          <a:xfrm>
            <a:off x="7516368" y="3630168"/>
            <a:ext cx="146304" cy="146304"/>
          </a:xfrm>
          <a:prstGeom prst="ellipse">
            <a:avLst/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60920" y="3968496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E74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3968496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E74049"/>
                </a:solidFill>
                <a:latin typeface="Inter"/>
              </a:rPr>
              <a:t>Wat kunnen we beter doen?</a:t>
            </a:r>
          </a:p>
        </p:txBody>
      </p:sp>
      <p:sp>
        <p:nvSpPr>
          <p:cNvPr id="21" name="Oval 20"/>
          <p:cNvSpPr/>
          <p:nvPr/>
        </p:nvSpPr>
        <p:spPr>
          <a:xfrm>
            <a:off x="7516368" y="4105656"/>
            <a:ext cx="146304" cy="146304"/>
          </a:xfrm>
          <a:prstGeom prst="ellipse">
            <a:avLst/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60920" y="4443984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E74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4443984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E74049"/>
                </a:solidFill>
                <a:latin typeface="Inter"/>
              </a:rPr>
              <a:t>Geen verkoopgesprek</a:t>
            </a:r>
          </a:p>
        </p:txBody>
      </p:sp>
      <p:sp>
        <p:nvSpPr>
          <p:cNvPr id="24" name="Oval 23"/>
          <p:cNvSpPr/>
          <p:nvPr/>
        </p:nvSpPr>
        <p:spPr>
          <a:xfrm>
            <a:off x="7516368" y="4581144"/>
            <a:ext cx="146304" cy="146304"/>
          </a:xfrm>
          <a:prstGeom prst="ellipse">
            <a:avLst/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5577840"/>
            <a:ext cx="10927080" cy="566928"/>
          </a:xfrm>
          <a:prstGeom prst="roundRect">
            <a:avLst>
              <a:gd name="adj" fmla="val 18000"/>
            </a:avLst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577840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Inter"/>
              </a:rPr>
              <a:t>Gewenst resultaat:  </a:t>
            </a:r>
            <a:r>
              <a:rPr sz="1300" b="0">
                <a:solidFill>
                  <a:srgbClr val="FFFFFF"/>
                </a:solidFill>
                <a:latin typeface="Inter"/>
              </a:rPr>
              <a:t>De ondernemer ervaart betrokkenheid en oprechte interesse.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502920"/>
            <a:ext cx="822960" cy="822960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56692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4244"/>
                </a:solidFill>
                <a:latin typeface="Inter"/>
              </a:rPr>
              <a:t>FASE 5  ·  ± 12 MAANDEN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877824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142A33"/>
                </a:solidFill>
                <a:latin typeface="Inter"/>
              </a:rPr>
              <a:t>Onderneem Mee Gesprek (OMG)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1572768"/>
            <a:ext cx="9601200" cy="566928"/>
          </a:xfrm>
          <a:prstGeom prst="roundRect">
            <a:avLst>
              <a:gd name="adj" fmla="val 20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1572768"/>
            <a:ext cx="9235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244"/>
                </a:solidFill>
                <a:latin typeface="Inter"/>
              </a:rPr>
              <a:t>Doel:  </a:t>
            </a:r>
            <a:r>
              <a:rPr sz="1300" b="0">
                <a:solidFill>
                  <a:srgbClr val="1F2937"/>
                </a:solidFill>
                <a:latin typeface="Inter"/>
              </a:rPr>
              <a:t>Het hoogtepunt: vooruitkijken naar de onderneming, niet het dossier.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6126480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249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4244"/>
                </a:solidFill>
                <a:latin typeface="Inter"/>
              </a:rPr>
              <a:t>WAT DOEN WE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821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04244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Goed gesprek over ondernemerschap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04244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Onderneming · mensen · structuur · business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04244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Legal MRI als voorbereiding en verdieping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004244"/>
                </a:solidFill>
                <a:latin typeface="Inter"/>
              </a:rPr>
              <a:t>●  </a:t>
            </a:r>
            <a:r>
              <a:rPr sz="1350" b="0">
                <a:solidFill>
                  <a:srgbClr val="1F2937"/>
                </a:solidFill>
                <a:latin typeface="Inter"/>
              </a:rPr>
              <a:t>Sparren en meedenken — geen verkooppresentatie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468880"/>
            <a:ext cx="4526280" cy="2926080"/>
          </a:xfrm>
          <a:prstGeom prst="roundRect">
            <a:avLst>
              <a:gd name="adj" fmla="val 5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2724912"/>
            <a:ext cx="39776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4244"/>
                </a:solidFill>
                <a:latin typeface="Inter"/>
              </a:rPr>
              <a:t>KERNWOORDEN UIT DE MAILS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035808"/>
            <a:ext cx="3977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De taal die onze waarden laat zien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3493008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42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3493008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Onderneem Mee Gesprek</a:t>
            </a:r>
          </a:p>
        </p:txBody>
      </p:sp>
      <p:sp>
        <p:nvSpPr>
          <p:cNvPr id="18" name="Oval 17"/>
          <p:cNvSpPr/>
          <p:nvPr/>
        </p:nvSpPr>
        <p:spPr>
          <a:xfrm>
            <a:off x="7516368" y="3630168"/>
            <a:ext cx="146304" cy="146304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60920" y="3968496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42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3968496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Toekomst</a:t>
            </a:r>
          </a:p>
        </p:txBody>
      </p:sp>
      <p:sp>
        <p:nvSpPr>
          <p:cNvPr id="21" name="Oval 20"/>
          <p:cNvSpPr/>
          <p:nvPr/>
        </p:nvSpPr>
        <p:spPr>
          <a:xfrm>
            <a:off x="7516368" y="4105656"/>
            <a:ext cx="146304" cy="146304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60920" y="4443984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42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4443984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Kansen</a:t>
            </a:r>
          </a:p>
        </p:txBody>
      </p:sp>
      <p:sp>
        <p:nvSpPr>
          <p:cNvPr id="24" name="Oval 23"/>
          <p:cNvSpPr/>
          <p:nvPr/>
        </p:nvSpPr>
        <p:spPr>
          <a:xfrm>
            <a:off x="7516368" y="4581144"/>
            <a:ext cx="146304" cy="146304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60920" y="4919472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42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4919472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Uitdagingen</a:t>
            </a:r>
          </a:p>
        </p:txBody>
      </p:sp>
      <p:sp>
        <p:nvSpPr>
          <p:cNvPr id="27" name="Oval 26"/>
          <p:cNvSpPr/>
          <p:nvPr/>
        </p:nvSpPr>
        <p:spPr>
          <a:xfrm>
            <a:off x="7516368" y="5056632"/>
            <a:ext cx="146304" cy="146304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60920" y="5394960"/>
            <a:ext cx="3886200" cy="42062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0042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0" y="5394960"/>
            <a:ext cx="361188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Meedenken</a:t>
            </a:r>
          </a:p>
        </p:txBody>
      </p:sp>
      <p:sp>
        <p:nvSpPr>
          <p:cNvPr id="30" name="Oval 29"/>
          <p:cNvSpPr/>
          <p:nvPr/>
        </p:nvSpPr>
        <p:spPr>
          <a:xfrm>
            <a:off x="7516368" y="5532120"/>
            <a:ext cx="146304" cy="146304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577840"/>
            <a:ext cx="10927080" cy="566928"/>
          </a:xfrm>
          <a:prstGeom prst="roundRect">
            <a:avLst>
              <a:gd name="adj" fmla="val 18000"/>
            </a:avLst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577840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Inter"/>
              </a:rPr>
              <a:t>Gewenst resultaat:  </a:t>
            </a:r>
            <a:r>
              <a:rPr sz="1300" b="0">
                <a:solidFill>
                  <a:srgbClr val="FFFFFF"/>
                </a:solidFill>
                <a:latin typeface="Inter"/>
              </a:rPr>
              <a:t>“VDT denkt mee als ondernemer en is een sparringpartner.”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EÉN INGANG VOOR IEDEREEN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Iedere klant komt hetzelfde binnen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852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1F2937"/>
                </a:solidFill>
                <a:latin typeface="Inter"/>
              </a:rPr>
              <a:t>Iedereen krijgt dezelfde onboarding. Binnen twee weken bepalen we de strategische waarde.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4320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743200"/>
            <a:ext cx="2743200" cy="91440"/>
          </a:xfrm>
          <a:prstGeom prst="roundRect">
            <a:avLst>
              <a:gd name="adj" fmla="val 50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8094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7F81"/>
                </a:solidFill>
                <a:latin typeface="Inter"/>
              </a:rPr>
              <a:t>STAP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735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>
                <a:solidFill>
                  <a:srgbClr val="142A33"/>
                </a:solidFill>
                <a:latin typeface="Inter"/>
              </a:rPr>
              <a:t>Gelijke onboarding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941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>
                <a:solidFill>
                  <a:srgbClr val="525C6B"/>
                </a:solidFill>
                <a:latin typeface="Inter"/>
              </a:rPr>
              <a:t>Welkomstmail + gegevens vastleggen</a:t>
            </a:r>
          </a:p>
        </p:txBody>
      </p:sp>
      <p:sp>
        <p:nvSpPr>
          <p:cNvPr id="15" name="Chevron 14"/>
          <p:cNvSpPr/>
          <p:nvPr/>
        </p:nvSpPr>
        <p:spPr>
          <a:xfrm>
            <a:off x="3456432" y="3246120"/>
            <a:ext cx="457200" cy="365760"/>
          </a:xfrm>
          <a:prstGeom prst="chevron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23360" y="274320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23360" y="2743200"/>
            <a:ext cx="2743200" cy="91440"/>
          </a:xfrm>
          <a:prstGeom prst="roundRect">
            <a:avLst>
              <a:gd name="adj" fmla="val 5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0" y="298094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2FA766"/>
                </a:solidFill>
                <a:latin typeface="Inter"/>
              </a:rPr>
              <a:t>STAP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2735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>
                <a:solidFill>
                  <a:srgbClr val="142A33"/>
                </a:solidFill>
                <a:latin typeface="Inter"/>
              </a:rPr>
              <a:t>Toets twee criteria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36941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>
                <a:solidFill>
                  <a:srgbClr val="525C6B"/>
                </a:solidFill>
                <a:latin typeface="Inter"/>
              </a:rPr>
              <a:t>Binnen 2 weken beoordeeld</a:t>
            </a:r>
          </a:p>
        </p:txBody>
      </p:sp>
      <p:sp>
        <p:nvSpPr>
          <p:cNvPr id="21" name="Chevron 20"/>
          <p:cNvSpPr/>
          <p:nvPr/>
        </p:nvSpPr>
        <p:spPr>
          <a:xfrm>
            <a:off x="6839712" y="3246120"/>
            <a:ext cx="457200" cy="365760"/>
          </a:xfrm>
          <a:prstGeom prst="chevron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06640" y="274320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E6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06640" y="2743200"/>
            <a:ext cx="2743200" cy="91440"/>
          </a:xfrm>
          <a:prstGeom prst="roundRect">
            <a:avLst>
              <a:gd name="adj" fmla="val 50000"/>
            </a:avLst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0" y="298094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4244"/>
                </a:solidFill>
                <a:latin typeface="Inter"/>
              </a:rPr>
              <a:t>STAP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2735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>
                <a:solidFill>
                  <a:srgbClr val="142A33"/>
                </a:solidFill>
                <a:latin typeface="Inter"/>
              </a:rPr>
              <a:t>Bepaal segment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6941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>
                <a:solidFill>
                  <a:srgbClr val="525C6B"/>
                </a:solidFill>
                <a:latin typeface="Inter"/>
              </a:rPr>
              <a:t>Strategisch of regulier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26280"/>
            <a:ext cx="512064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709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2FA766"/>
                </a:solidFill>
                <a:latin typeface="Inter"/>
              </a:rPr>
              <a:t>DE TWEE CRITERIA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5093208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093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Inter"/>
              </a:rPr>
              <a:t>10+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093208"/>
            <a:ext cx="41148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142A33"/>
                </a:solidFill>
                <a:latin typeface="Inter"/>
              </a:rPr>
              <a:t>Meer dan 10 medewerkers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5605272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60527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000" b="1">
                <a:solidFill>
                  <a:srgbClr val="FFFFFF"/>
                </a:solidFill>
                <a:latin typeface="Inter"/>
              </a:rPr>
              <a:t>DMU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557784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142A33"/>
                </a:solidFill>
                <a:latin typeface="Inter"/>
              </a:rPr>
              <a:t>DMU bekend </a:t>
            </a:r>
            <a:r>
              <a:rPr sz="1150" b="0">
                <a:solidFill>
                  <a:srgbClr val="525C6B"/>
                </a:solidFill>
                <a:latin typeface="Inter"/>
              </a:rPr>
              <a:t>(DGA / directie / beslisser)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89320" y="4526280"/>
            <a:ext cx="5577840" cy="1508760"/>
          </a:xfrm>
          <a:prstGeom prst="roundRect">
            <a:avLst>
              <a:gd name="adj" fmla="val 5000"/>
            </a:avLst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47274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D6F0E1"/>
                </a:solidFill>
                <a:latin typeface="Inter"/>
              </a:rPr>
              <a:t>BEIDE AANWEZIG?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02920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  <a:latin typeface="Inter"/>
              </a:rPr>
              <a:t>→  Strategische klant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55504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150" b="0">
                <a:solidFill>
                  <a:srgbClr val="FFFFFF"/>
                </a:solidFill>
                <a:latin typeface="Inter"/>
              </a:rPr>
              <a:t>Verwachting: gemiddeld circa 5 strategische klanten per maand.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4244"/>
                </a:solidFill>
                <a:latin typeface="Inter"/>
              </a:rPr>
              <a:t>WIE DOET WAT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De rolverdeling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57400"/>
            <a:ext cx="356616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3566160" cy="777240"/>
          </a:xfrm>
          <a:prstGeom prst="roundRect">
            <a:avLst>
              <a:gd name="adj" fmla="val 5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560320"/>
            <a:ext cx="3566160" cy="27432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20370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De Secretaresse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CFE6E6"/>
                </a:solidFill>
                <a:latin typeface="Inter"/>
              </a:rPr>
              <a:t>DATA &amp; KWALITEIT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3639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7F81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Data-input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7F81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Klant aanmaken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7F81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Datakwaliteit bewaken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2057400"/>
            <a:ext cx="356616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70832" y="2057400"/>
            <a:ext cx="3566160" cy="777240"/>
          </a:xfrm>
          <a:prstGeom prst="roundRect">
            <a:avLst>
              <a:gd name="adj" fmla="val 5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0832" y="2560320"/>
            <a:ext cx="3566160" cy="274320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2" y="220370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Het Klantteam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25603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CFE6E6"/>
                </a:solidFill>
                <a:latin typeface="Inter"/>
              </a:rPr>
              <a:t>REGIE &amp; RELATIE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13639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FA766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Regie over de klantreis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FA766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Uitvoering: Legal MRI, check-ins, OMG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FA766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Relatiebeheer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4" y="2057400"/>
            <a:ext cx="356616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01584" y="2057400"/>
            <a:ext cx="3566160" cy="777240"/>
          </a:xfrm>
          <a:prstGeom prst="roundRect">
            <a:avLst>
              <a:gd name="adj" fmla="val 5000"/>
            </a:avLst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1584" y="2560320"/>
            <a:ext cx="3566160" cy="274320"/>
          </a:xfrm>
          <a:prstGeom prst="rect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75904" y="220370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De Advocaat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5904" y="25603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CFE6E6"/>
                </a:solidFill>
                <a:latin typeface="Inter"/>
              </a:rPr>
              <a:t>INHOUD &amp; DOSSIER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4192" y="313639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4244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Inhoud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4244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Dossier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04244"/>
                </a:solidFill>
                <a:latin typeface="Inter"/>
              </a:rPr>
              <a:t>●  </a:t>
            </a:r>
            <a:r>
              <a:rPr sz="1300" b="0">
                <a:solidFill>
                  <a:srgbClr val="1F2937"/>
                </a:solidFill>
                <a:latin typeface="Inter"/>
              </a:rPr>
              <a:t>Juridisch advies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166360"/>
            <a:ext cx="10927080" cy="960120"/>
          </a:xfrm>
          <a:prstGeom prst="roundRect">
            <a:avLst>
              <a:gd name="adj" fmla="val 8000"/>
            </a:avLst>
          </a:prstGeom>
          <a:solidFill>
            <a:srgbClr val="14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276088"/>
            <a:ext cx="1005840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De advocaat is eigenaar van de </a:t>
            </a:r>
            <a:r>
              <a:rPr sz="1700" b="1">
                <a:solidFill>
                  <a:srgbClr val="F4C200"/>
                </a:solidFill>
                <a:latin typeface="Inter"/>
              </a:rPr>
              <a:t>inhoud</a:t>
            </a:r>
            <a:r>
              <a:rPr sz="1700" b="1">
                <a:solidFill>
                  <a:srgbClr val="FFFFFF"/>
                </a:solidFill>
                <a:latin typeface="Inter"/>
              </a:rPr>
              <a:t>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641848"/>
            <a:ext cx="10058400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Het klantteam is eigenaar van de </a:t>
            </a:r>
            <a:r>
              <a:rPr sz="1700" b="1">
                <a:solidFill>
                  <a:srgbClr val="2FA766"/>
                </a:solidFill>
                <a:latin typeface="Inter"/>
              </a:rPr>
              <a:t>relatie</a:t>
            </a:r>
            <a:r>
              <a:rPr sz="1700" b="1">
                <a:solidFill>
                  <a:srgbClr val="FFFFFF"/>
                </a:solidFill>
                <a:latin typeface="Inter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2FA766"/>
                </a:solidFill>
                <a:latin typeface="Inter"/>
              </a:rPr>
              <a:t>HET INSTRUMENT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De Legal MRI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57400"/>
            <a:ext cx="5212080" cy="278892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2423160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2600" b="1">
                <a:solidFill>
                  <a:srgbClr val="FFFFFF"/>
                </a:solidFill>
                <a:latin typeface="Inter"/>
              </a:rPr>
              <a:t>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46888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>
                <a:solidFill>
                  <a:srgbClr val="142A33"/>
                </a:solidFill>
                <a:latin typeface="Inter"/>
              </a:rPr>
              <a:t>Een juridische gezondheidsscan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8328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1F2937"/>
                </a:solidFill>
                <a:latin typeface="Inter"/>
              </a:rPr>
              <a:t>Een soort juridische röntgenfoto van de onderneming.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2FA766"/>
                </a:solidFill>
                <a:latin typeface="Inter"/>
              </a:rPr>
              <a:t>Invultijd: ± 10 minuten.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Inter"/>
              </a:rPr>
              <a:t>Resultaat: analyse, rapport en aanbevelingen — besproken tijdens de kennismaking en het OMG.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05740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FB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2860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E74049"/>
                </a:solidFill>
                <a:latin typeface="Inter"/>
              </a:rPr>
              <a:t>GEEN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E74049"/>
                </a:solidFill>
                <a:latin typeface="Inter"/>
              </a:rPr>
              <a:t>✕  </a:t>
            </a:r>
            <a:r>
              <a:rPr sz="1300" b="0">
                <a:solidFill>
                  <a:srgbClr val="1F2937"/>
                </a:solidFill>
                <a:latin typeface="Inter"/>
              </a:rPr>
              <a:t>Verkoopinstrument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E74049"/>
                </a:solidFill>
                <a:latin typeface="Inter"/>
              </a:rPr>
              <a:t>✕  </a:t>
            </a:r>
            <a:r>
              <a:rPr sz="1300" b="0">
                <a:solidFill>
                  <a:srgbClr val="1F2937"/>
                </a:solidFill>
                <a:latin typeface="Inter"/>
              </a:rPr>
              <a:t>Werk creëren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E74049"/>
                </a:solidFill>
                <a:latin typeface="Inter"/>
              </a:rPr>
              <a:t>✕  </a:t>
            </a:r>
            <a:r>
              <a:rPr sz="1300" b="0">
                <a:solidFill>
                  <a:srgbClr val="1F2937"/>
                </a:solidFill>
                <a:latin typeface="Inter"/>
              </a:rPr>
              <a:t>Dossiers genereren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205740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22860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2FA766"/>
                </a:solidFill>
                <a:latin typeface="Inter"/>
              </a:rPr>
              <a:t>WÉL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FA766"/>
                </a:solidFill>
                <a:latin typeface="Inter"/>
              </a:rPr>
              <a:t>✓  </a:t>
            </a:r>
            <a:r>
              <a:rPr sz="1300" b="0">
                <a:solidFill>
                  <a:srgbClr val="1F2937"/>
                </a:solidFill>
                <a:latin typeface="Inter"/>
              </a:rPr>
              <a:t>Inzicht geven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FA766"/>
                </a:solidFill>
                <a:latin typeface="Inter"/>
              </a:rPr>
              <a:t>✓  </a:t>
            </a:r>
            <a:r>
              <a:rPr sz="1300" b="0">
                <a:solidFill>
                  <a:srgbClr val="1F2937"/>
                </a:solidFill>
                <a:latin typeface="Inter"/>
              </a:rPr>
              <a:t>Bewustwording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FA766"/>
                </a:solidFill>
                <a:latin typeface="Inter"/>
              </a:rPr>
              <a:t>✓  </a:t>
            </a:r>
            <a:r>
              <a:rPr sz="1300" b="0">
                <a:solidFill>
                  <a:srgbClr val="1F2937"/>
                </a:solidFill>
                <a:latin typeface="Inter"/>
              </a:rPr>
              <a:t>Gesprek verdiepen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FA766"/>
                </a:solidFill>
                <a:latin typeface="Inter"/>
              </a:rPr>
              <a:t>✓  </a:t>
            </a:r>
            <a:r>
              <a:rPr sz="1300" b="0">
                <a:solidFill>
                  <a:srgbClr val="1F2937"/>
                </a:solidFill>
                <a:latin typeface="Inter"/>
              </a:rPr>
              <a:t>Prioriteiten zichtbaar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212080"/>
            <a:ext cx="10927080" cy="868680"/>
          </a:xfrm>
          <a:prstGeom prst="roundRect">
            <a:avLst>
              <a:gd name="adj" fmla="val 1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21208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Inter"/>
              </a:rPr>
              <a:t>“Handig — ik krijg inzicht in mijn onderneming.”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>
                <a:solidFill>
                  <a:srgbClr val="E3F5EA"/>
                </a:solidFill>
                <a:latin typeface="Inter"/>
              </a:rPr>
              <a:t>Dát is het gevoel dat de Legal MRI moet oproepen. Geen verkoop, wel inzicht.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7F81"/>
                </a:solidFill>
                <a:latin typeface="Inter"/>
              </a:rPr>
              <a:t>HOE WE HET BORGEN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De workflow in BaseNet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1F2937"/>
                </a:solidFill>
                <a:latin typeface="Inter"/>
              </a:rPr>
              <a:t>We weten inmiddels hoe we deze klantreis volledig kunnen inrichten in BaseNet.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2084831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606040"/>
            <a:ext cx="2084831" cy="91440"/>
          </a:xfrm>
          <a:prstGeom prst="roundRect">
            <a:avLst>
              <a:gd name="adj" fmla="val 50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6112" y="2880360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07F81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88036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502152"/>
            <a:ext cx="164591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>
                <a:solidFill>
                  <a:srgbClr val="142A33"/>
                </a:solidFill>
                <a:latin typeface="Inter"/>
              </a:rPr>
              <a:t>Automatische taken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3904488"/>
            <a:ext cx="1645919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Het juiste moment komt vanzelf naar boven.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39" y="2606040"/>
            <a:ext cx="2084831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39" y="2606040"/>
            <a:ext cx="2084831" cy="91440"/>
          </a:xfrm>
          <a:prstGeom prst="roundRect">
            <a:avLst>
              <a:gd name="adj" fmla="val 5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090671" y="2880360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1" y="288036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4095" y="3502152"/>
            <a:ext cx="164591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>
                <a:solidFill>
                  <a:srgbClr val="142A33"/>
                </a:solidFill>
                <a:latin typeface="Inter"/>
              </a:rPr>
              <a:t>Workflow-stappen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54095" y="3904488"/>
            <a:ext cx="1645919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Elke fase is een vaste stap in het systeem.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198" y="2606040"/>
            <a:ext cx="2084831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198" y="2606040"/>
            <a:ext cx="2084831" cy="91440"/>
          </a:xfrm>
          <a:prstGeom prst="roundRect">
            <a:avLst>
              <a:gd name="adj" fmla="val 50000"/>
            </a:avLst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85230" y="2880360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C200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85230" y="288036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8654" y="3502152"/>
            <a:ext cx="164591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>
                <a:solidFill>
                  <a:srgbClr val="142A33"/>
                </a:solidFill>
                <a:latin typeface="Inter"/>
              </a:rPr>
              <a:t>Segmentatie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48654" y="3904488"/>
            <a:ext cx="1645919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Strategische klanten herkend en gemarkeerd.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57" y="2606040"/>
            <a:ext cx="2084831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223757" y="2606040"/>
            <a:ext cx="2084831" cy="91440"/>
          </a:xfrm>
          <a:prstGeom prst="roundRect">
            <a:avLst>
              <a:gd name="adj" fmla="val 50000"/>
            </a:avLst>
          </a:prstGeom>
          <a:solidFill>
            <a:srgbClr val="E74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79789" y="2880360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74049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9789" y="288036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3213" y="3502152"/>
            <a:ext cx="164591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>
                <a:solidFill>
                  <a:srgbClr val="142A33"/>
                </a:solidFill>
                <a:latin typeface="Inter"/>
              </a:rPr>
              <a:t>Herinneringen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43213" y="3904488"/>
            <a:ext cx="1645919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Niets valt tussen wal en schip.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18316" y="2606040"/>
            <a:ext cx="2084831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18316" y="2606040"/>
            <a:ext cx="2084831" cy="91440"/>
          </a:xfrm>
          <a:prstGeom prst="roundRect">
            <a:avLst>
              <a:gd name="adj" fmla="val 50000"/>
            </a:avLst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674348" y="2880360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04244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74348" y="288036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7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2" y="3502152"/>
            <a:ext cx="164591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>
                <a:solidFill>
                  <a:srgbClr val="142A33"/>
                </a:solidFill>
                <a:latin typeface="Inter"/>
              </a:rPr>
              <a:t>Eigenaarschap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2" y="3904488"/>
            <a:ext cx="1645919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50" b="0">
                <a:solidFill>
                  <a:srgbClr val="525C6B"/>
                </a:solidFill>
                <a:latin typeface="Inter"/>
              </a:rPr>
              <a:t>Voor elke taak is duidelijk wie aan zet is.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4937760"/>
            <a:ext cx="5349240" cy="1188720"/>
          </a:xfrm>
          <a:prstGeom prst="roundRect">
            <a:avLst>
              <a:gd name="adj" fmla="val 8000"/>
            </a:avLst>
          </a:prstGeom>
          <a:solidFill>
            <a:srgbClr val="FB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1206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E74049"/>
                </a:solidFill>
                <a:latin typeface="Inter"/>
              </a:rPr>
              <a:t>GEEN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544068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>
                <a:solidFill>
                  <a:srgbClr val="142A33"/>
                </a:solidFill>
                <a:latin typeface="Inter"/>
              </a:rPr>
              <a:t>Een proces dat afhankelijk is van geheugen.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4937760"/>
            <a:ext cx="5349240" cy="1188720"/>
          </a:xfrm>
          <a:prstGeom prst="roundRect">
            <a:avLst>
              <a:gd name="adj" fmla="val 8000"/>
            </a:avLst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51206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F4C200"/>
                </a:solidFill>
                <a:latin typeface="Inter"/>
              </a:rPr>
              <a:t>WÉL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544068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Inter"/>
              </a:rPr>
              <a:t>Een systeem. Betrouwbaar, herhaalbaar en geborgd.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2FA766"/>
                </a:solidFill>
                <a:latin typeface="Inter"/>
              </a:rPr>
              <a:t>WAAR HET OM DRAAIT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De kracht zit in het systeem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500" b="0">
                <a:solidFill>
                  <a:srgbClr val="1F2937"/>
                </a:solidFill>
                <a:latin typeface="Inter"/>
              </a:rPr>
              <a:t>De kracht zit niet in losse activiteiten — niet in één mail, één telefoontje of één gesprek.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142A33"/>
                </a:solidFill>
                <a:latin typeface="Inter"/>
              </a:rPr>
              <a:t>De kracht zit erin dat elke stap voortbouwt op de vorige.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00400"/>
            <a:ext cx="1874519" cy="868680"/>
          </a:xfrm>
          <a:prstGeom prst="roundRect">
            <a:avLst>
              <a:gd name="adj" fmla="val 16000"/>
            </a:avLst>
          </a:prstGeom>
          <a:solidFill>
            <a:srgbClr val="007F81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200400"/>
            <a:ext cx="1874519" cy="8686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450" b="1">
                <a:solidFill>
                  <a:srgbClr val="FFFFFF"/>
                </a:solidFill>
                <a:latin typeface="Inter"/>
              </a:rPr>
              <a:t>Welkom</a:t>
            </a:r>
          </a:p>
        </p:txBody>
      </p:sp>
      <p:sp>
        <p:nvSpPr>
          <p:cNvPr id="12" name="Chevron 11"/>
          <p:cNvSpPr/>
          <p:nvPr/>
        </p:nvSpPr>
        <p:spPr>
          <a:xfrm>
            <a:off x="2670047" y="3474720"/>
            <a:ext cx="237744" cy="320040"/>
          </a:xfrm>
          <a:prstGeom prst="chevron">
            <a:avLst/>
          </a:prstGeom>
          <a:solidFill>
            <a:srgbClr val="52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07791" y="3200400"/>
            <a:ext cx="1874519" cy="868680"/>
          </a:xfrm>
          <a:prstGeom prst="roundRect">
            <a:avLst>
              <a:gd name="adj" fmla="val 16000"/>
            </a:avLst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07791" y="3200400"/>
            <a:ext cx="1874519" cy="8686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450" b="1">
                <a:solidFill>
                  <a:srgbClr val="FFFFFF"/>
                </a:solidFill>
                <a:latin typeface="Inter"/>
              </a:rPr>
              <a:t>Kennismaken</a:t>
            </a:r>
          </a:p>
        </p:txBody>
      </p:sp>
      <p:sp>
        <p:nvSpPr>
          <p:cNvPr id="15" name="Chevron 14"/>
          <p:cNvSpPr/>
          <p:nvPr/>
        </p:nvSpPr>
        <p:spPr>
          <a:xfrm>
            <a:off x="4800598" y="3474720"/>
            <a:ext cx="237744" cy="320040"/>
          </a:xfrm>
          <a:prstGeom prst="chevron">
            <a:avLst/>
          </a:prstGeom>
          <a:solidFill>
            <a:srgbClr val="52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38342" y="3200400"/>
            <a:ext cx="1874519" cy="868680"/>
          </a:xfrm>
          <a:prstGeom prst="roundRect">
            <a:avLst>
              <a:gd name="adj" fmla="val 16000"/>
            </a:avLst>
          </a:prstGeom>
          <a:solidFill>
            <a:srgbClr val="F4C200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38342" y="3200400"/>
            <a:ext cx="1874519" cy="8686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450" b="1">
                <a:solidFill>
                  <a:srgbClr val="004244"/>
                </a:solidFill>
                <a:latin typeface="Inter"/>
              </a:rPr>
              <a:t>Waarde toevoegen</a:t>
            </a:r>
          </a:p>
        </p:txBody>
      </p:sp>
      <p:sp>
        <p:nvSpPr>
          <p:cNvPr id="18" name="Chevron 17"/>
          <p:cNvSpPr/>
          <p:nvPr/>
        </p:nvSpPr>
        <p:spPr>
          <a:xfrm>
            <a:off x="6931149" y="3474720"/>
            <a:ext cx="237744" cy="320040"/>
          </a:xfrm>
          <a:prstGeom prst="chevron">
            <a:avLst/>
          </a:prstGeom>
          <a:solidFill>
            <a:srgbClr val="52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68893" y="3200400"/>
            <a:ext cx="1874519" cy="868680"/>
          </a:xfrm>
          <a:prstGeom prst="roundRect">
            <a:avLst>
              <a:gd name="adj" fmla="val 16000"/>
            </a:avLst>
          </a:prstGeom>
          <a:solidFill>
            <a:srgbClr val="E74049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68893" y="3200400"/>
            <a:ext cx="1874519" cy="8686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450" b="1">
                <a:solidFill>
                  <a:srgbClr val="FFFFFF"/>
                </a:solidFill>
                <a:latin typeface="Inter"/>
              </a:rPr>
              <a:t>Luisteren</a:t>
            </a:r>
          </a:p>
        </p:txBody>
      </p:sp>
      <p:sp>
        <p:nvSpPr>
          <p:cNvPr id="21" name="Chevron 20"/>
          <p:cNvSpPr/>
          <p:nvPr/>
        </p:nvSpPr>
        <p:spPr>
          <a:xfrm>
            <a:off x="9061700" y="3474720"/>
            <a:ext cx="237744" cy="320040"/>
          </a:xfrm>
          <a:prstGeom prst="chevron">
            <a:avLst/>
          </a:prstGeom>
          <a:solidFill>
            <a:srgbClr val="52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99444" y="3200400"/>
            <a:ext cx="1874519" cy="868680"/>
          </a:xfrm>
          <a:prstGeom prst="roundRect">
            <a:avLst>
              <a:gd name="adj" fmla="val 16000"/>
            </a:avLst>
          </a:prstGeom>
          <a:solidFill>
            <a:srgbClr val="004244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444" y="3200400"/>
            <a:ext cx="1874519" cy="8686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450" b="1">
                <a:solidFill>
                  <a:srgbClr val="FFFFFF"/>
                </a:solidFill>
                <a:latin typeface="Inter"/>
              </a:rPr>
              <a:t>Vooruitkijken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526280"/>
            <a:ext cx="106070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4526280"/>
            <a:ext cx="146304" cy="1417320"/>
          </a:xfrm>
          <a:prstGeom prst="roundRect">
            <a:avLst>
              <a:gd name="adj" fmla="val 5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745736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142A33"/>
                </a:solidFill>
                <a:latin typeface="Inter"/>
              </a:rPr>
              <a:t>Het resultaat: iets wat veel advocatenkantoren niet hebben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184648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400" b="0">
                <a:solidFill>
                  <a:srgbClr val="1F2937"/>
                </a:solidFill>
                <a:latin typeface="Inter"/>
              </a:rPr>
              <a:t>Een relatie die draait om de ondernemer en de onderneming — in plaats van uitsluitend om juridische dossiers. Dat is de ambitie van VDT.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66928"/>
            <a:ext cx="502920" cy="109728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2FA766"/>
                </a:solidFill>
                <a:latin typeface="Inter"/>
              </a:rPr>
              <a:t>NA 90 DAGEN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>
                <a:solidFill>
                  <a:srgbClr val="142A33"/>
                </a:solidFill>
                <a:latin typeface="Inter"/>
              </a:rPr>
              <a:t>Succescriteria van de onboarding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C6B"/>
                </a:solidFill>
                <a:latin typeface="Inter"/>
              </a:rPr>
              <a:t>VDT Klantreis  ·  Van Dossier naar Ondernemerschap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525C6B"/>
                </a:solidFill>
                <a:latin typeface="Inter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85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1F2937"/>
                </a:solidFill>
                <a:latin typeface="Inter"/>
              </a:rPr>
              <a:t>De onboarding is geslaagd als de klant: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60320"/>
            <a:ext cx="1092708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7EA"/>
            </a:solidFill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560320"/>
            <a:ext cx="10927080" cy="109728"/>
          </a:xfrm>
          <a:prstGeom prst="roundRect">
            <a:avLst>
              <a:gd name="adj" fmla="val 5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852928"/>
            <a:ext cx="101041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2FA766"/>
                </a:solidFill>
                <a:latin typeface="Inter"/>
              </a:rPr>
              <a:t>AUDIT CHECKLIST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3346704"/>
            <a:ext cx="10104120" cy="420624"/>
          </a:xfrm>
          <a:prstGeom prst="roundRect">
            <a:avLst>
              <a:gd name="adj" fmla="val 2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43000" y="3383280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3832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346704"/>
            <a:ext cx="937260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450" b="0">
                <a:solidFill>
                  <a:srgbClr val="142A33"/>
                </a:solidFill>
                <a:latin typeface="Inter"/>
              </a:rPr>
              <a:t>Exact weet wie hij of zij moet bellen bij VDT.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3849624"/>
            <a:ext cx="10104120" cy="420624"/>
          </a:xfrm>
          <a:prstGeom prst="roundRect">
            <a:avLst>
              <a:gd name="adj" fmla="val 2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43000" y="3886200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8862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849624"/>
            <a:ext cx="937260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450" b="0">
                <a:solidFill>
                  <a:srgbClr val="142A33"/>
                </a:solidFill>
                <a:latin typeface="Inter"/>
              </a:rPr>
              <a:t>Minimaal twee mensen binnen VDT persoonlijk kent.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352544"/>
            <a:ext cx="10104120" cy="420624"/>
          </a:xfrm>
          <a:prstGeom prst="roundRect">
            <a:avLst>
              <a:gd name="adj" fmla="val 2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43000" y="4389120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389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352544"/>
            <a:ext cx="937260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450" b="0">
                <a:solidFill>
                  <a:srgbClr val="142A33"/>
                </a:solidFill>
                <a:latin typeface="Inter"/>
              </a:rPr>
              <a:t>Zich gekend voelt en merkt dat VDT de onderneming écht begrijpt.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1560" y="4855464"/>
            <a:ext cx="10104120" cy="420624"/>
          </a:xfrm>
          <a:prstGeom prst="roundRect">
            <a:avLst>
              <a:gd name="adj" fmla="val 2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43000" y="4892040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2FA766"/>
          </a:solidFill>
          <a:ln>
            <a:noFill/>
          </a:ln>
          <a:effectLst/>
          <a:effectLst>
            <a:outerShdw blurRad="90000" dist="38100" dir="5400000" rotWithShape="0">
              <a:srgbClr val="14323B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8920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855464"/>
            <a:ext cx="9372600" cy="4206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450" b="0">
                <a:solidFill>
                  <a:srgbClr val="142A33"/>
                </a:solidFill>
                <a:latin typeface="Inter"/>
              </a:rPr>
              <a:t>Minimaal één keer proactief is geholpen — zonder eigen verzoek.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577840"/>
            <a:ext cx="10927080" cy="868680"/>
          </a:xfrm>
          <a:prstGeom prst="roundRect">
            <a:avLst>
              <a:gd name="adj" fmla="val 10000"/>
            </a:avLst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57784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Inter"/>
              </a:rPr>
              <a:t>Het resultaat:  </a:t>
            </a:r>
            <a:r>
              <a:rPr sz="1500" b="0">
                <a:solidFill>
                  <a:srgbClr val="FFFFFF"/>
                </a:solidFill>
                <a:latin typeface="Inter"/>
              </a:rPr>
              <a:t>een relatie die verder gaat dan een juridisch dossier.</a:t>
            </a:r>
          </a:p>
          <a:p>
            <a:pPr algn="ctr">
              <a:lnSpc>
                <a:spcPct val="110000"/>
              </a:lnSpc>
              <a:spcBef>
                <a:spcPts val="0"/>
              </a:spcBef>
            </a:pPr>
            <a:r>
              <a:rPr sz="1500" b="1">
                <a:solidFill>
                  <a:srgbClr val="EFF8F1"/>
                </a:solidFill>
                <a:latin typeface="Inter"/>
              </a:rPr>
              <a:t>Adoptie van VDT over de volle breedte.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A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4C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371600" y="2743200"/>
            <a:ext cx="4572000" cy="4572000"/>
          </a:xfrm>
          <a:prstGeom prst="ellipse">
            <a:avLst/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007F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0515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F4C200"/>
                </a:solidFill>
                <a:latin typeface="Inter"/>
              </a:rPr>
              <a:t>WANNEER IS DEZE KLANTREIS GESLAAGD?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18872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2000" b="1">
                <a:solidFill>
                  <a:srgbClr val="2FA766"/>
                </a:solidFill>
                <a:latin typeface="Inter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31720"/>
            <a:ext cx="877824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Inter"/>
              </a:rPr>
              <a:t>VDT kent niet alleen mijn juridische dossiers,</a:t>
            </a:r>
          </a:p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3000" b="1">
                <a:solidFill>
                  <a:srgbClr val="2FA766"/>
                </a:solidFill>
                <a:latin typeface="Inter"/>
              </a:rPr>
              <a:t>maar begrijpt óók mijn onderneming.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45262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AECBCB"/>
                </a:solidFill>
                <a:latin typeface="Inter"/>
              </a:rPr>
              <a:t>— de ondernemer die wij voor ogen hebben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5212080"/>
            <a:ext cx="7680960" cy="822960"/>
          </a:xfrm>
          <a:prstGeom prst="roundRect">
            <a:avLst>
              <a:gd name="adj" fmla="val 20000"/>
            </a:avLst>
          </a:prstGeom>
          <a:solidFill>
            <a:srgbClr val="004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8840" y="5212080"/>
            <a:ext cx="7680960" cy="822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</a:pPr>
            <a:r>
              <a:rPr sz="1900" b="1">
                <a:solidFill>
                  <a:srgbClr val="F4C200"/>
                </a:solidFill>
                <a:latin typeface="Inter"/>
              </a:rPr>
              <a:t>Dán is deze klantreis geslaagd.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